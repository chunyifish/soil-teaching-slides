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Noto Sans CJK TC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C8D36FC-9E7F-42C0-AED0-CC2AAD2EF93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這頁絕不提碎形、不呈現孔洞，也不先透露反例。請學生先依直覺投票：當一個正方形縮小，周長也會變短嗎？為什麼？這裡的縮小先理解為等比例縮小。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3FF415-D2BC-4922-8399-700FFF09A65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在等比例縮小的前提下，學生原有經驗完全正確。問：邊長變成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1/2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時，為何周長是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1/2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，而面積是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1/4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？此時務必強調「等比例」是成立的條件，不能把它當作所有面積減少的通則。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【本頁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PowerPoint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公式可用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LaTeX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P_{\mathrm{small}}=\frac{1}{2}P_0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A_{\mathrm{small}}=\left(\frac{1}{2}\right)^2 A_0=\frac{1}{4}A_0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C27D60-EBEA-40FB-B9DB-5FAF497F1C9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請先預測：右邊挖洞後面積從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16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變成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15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，但「包含孔洞的所有邊界」會減少、不變、還是增加？請學生先說理由，下一頁才呈現計算結果。正方形外框邊長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，洞的邊長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。這不是碎形，只是普通正方形的挖洞操作。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9C0BDF-A1B2-41E0-A0DF-F455AAE2D99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定義清楚才能製造有效的認知衝突：實心正方形邊長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，面積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16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，外框長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16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；中央挖掉邊長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的小正方形後，面積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15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，原外框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16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沒有改變，但新增內部邊界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，所以所有邊界的總長為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。請學生修正原命題為：只有在「等比例縮小」時，面積與周長才必然一起縮小。接著問：如果每個小區域都反覆挖洞呢？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【本頁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PowerPoint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公式可用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LaTeX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16-1=15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16+4=20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2B287D-1837-45CB-8F45-AA05E171D5B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銜接前四頁的一次挖洞：現在換成三角形，在所有保留的小三角形持續重複挖空。請學生觀察每次保留三塊、邊長縮半；此刻不必給公式。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9AEA62-E1E4-4D01-BE03-AEE17314C1A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先問每次保留下來幾份？四等份中保留三份。請學生口述第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次與第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次面積比例，再揭露通式。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【本頁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PowerPoint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公式可用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LaTeX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A_1=\frac{3}{4}A_0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A_n=A_0\left(\frac{3}{4}\right)^n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FEF5C2-7A09-4FCF-B235-DF6D3126830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圖中的柱高呈等比下降。請學生指出為何「任意有限步仍有面積」與「極限面積等於零」不衝突。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【本頁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PowerPoint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公式可用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LaTeX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\lim_{n\to\infty}\left(\frac{3}{4}\right)^n=0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42F51E-D93F-470C-8E8D-8AFFA53C54F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本頁的橘線是新增的孔洞邊界。提醒：要把所有孔洞的邊界都算進去，不能只看外圈。橘色小三角形邊的端點示意可與分割幾何一起解釋。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【本頁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PowerPoint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公式可用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LaTeX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\frac{3}{2}=1.5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F690FD-97DA-4DE1-8E03-4A2CB330AD3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精確性提醒：外框始終不變；趨向無限的是累計所有內部孔洞邊的長度。另當討論碎形集合的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維豪斯多夫測度時，它也為無限。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【本頁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PowerPoint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公式可用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LaTeX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P_n=3a\left(\frac{3}{2}\right)^n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\lim_{n\to\infty}P_n=\infty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8056A0-21A0-4867-86CD-0828AF52F5E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請學生比較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3/4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與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3/2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的大小，說出與極限結果的連結。這一頁的認知任務是建立因果，而非代入計算。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【本頁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PowerPoint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公式可用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LaTeX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A_n=A_0\left(\frac{3}{4}\right)^n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P_n=P_0\left(\frac{3}{2}\right)^n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7F2521-CEBB-4FBD-89A1-DF8397223C5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老師先只揭露圖形，讓學生回答當每個長度縮成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1/2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，複製多少個可拼回原圖。正方體用立體示意，提醒八個半邊長的小立方體拼出原正方體。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【本頁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PowerPoint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公式可用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LaTeX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2^1=2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2^2=4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2^3=8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BEFE21-B05E-446C-85A4-6E4831B7DD5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把「縮小一半」定為固定操作，用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代表相似小圖形的個數，用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代表維度。這個公式適用於滿足條件的自相似碎形，不是所有圖形無條件都套用。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【本頁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PowerPoint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公式可用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LaTeX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N=2^D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D=\frac{\log N}{\log 2}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3C79D0-DD6B-4BC5-9B10-E92EB9185E4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先問學生：和上一頁不同的是什麼？只需要三個半尺寸副本，而不是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或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8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個。由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2^D=3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得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D=log3/log2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約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1.585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【本頁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PowerPoint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公式可用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LaTeX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2^D=3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D=\frac{\log 3}{\log 2}\approx 1.585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333C86-917D-4EBC-B418-50D3FE28526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本頁刻意避免說「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1.585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個方向」。解釋它是對尺度增生的量化，既比普通曲線更豐富，又沒有正面積。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【本頁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PowerPoint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公式可用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LaTeX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1&lt;D&lt;2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D=\frac{\log 3}{\log 2}\approx 1.585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C5A33E-F616-4B76-B3CB-28596AD65A5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嚴謹說法：謝爾賓斯基三角形的二維勒貝格面積為零；其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維豪斯多夫測度無限，而其豪斯多夫維度約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1.585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。若談周長，明確指所有孔洞邊界的總長。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【本頁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PowerPoint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公式可用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LaTeX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\mathrm{Area}=0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\mathrm{Boundary\ length}\to\infty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D\approx1.585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DE22EA-AAE7-4179-8F64-FCF58C1E843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先遮住維度答案，讓學生將上一頁公式改成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3^D=4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，算出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D=log4/log3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。再問這條碎形的長度為什麼也無限大。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【本頁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PowerPoint 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公式可用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LaTeX</a:t>
            </a: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】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3^D=4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D=\frac{\log 4}{\log 3}\approx1.262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61D016-09CD-4FFB-B6A8-3350E843855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將海岸線視為生活應用：尺規越小，通常會捕捉到更多曲折，長度估計可能增加。但真實海岸並非完美自相似，碎形維度是特定尺度範圍內的模型描述，並非對所有海岸都有唯一的常數。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F58457-9703-40E3-A5C7-0B206E9BE17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要求學生用自己的話解釋碎形維度，不許只背公式。海岸線是一個例子：越細的尺度通常揭露越多彎折，但真實海岸線不必然具單一精確自相似維度。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ABDB6B-0655-4B81-AEA6-CAA3CBF0864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Noto Sans CJK TC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Noto Sans CJK TC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Noto Sans CJK TC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Noto Sans CJK TC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Noto Sans CJK TC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Noto Sans CJK TC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Noto Sans CJK TC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Noto Sans CJK TC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567000" y="347400"/>
            <a:ext cx="529920" cy="347040"/>
          </a:xfrm>
          <a:prstGeom prst="roundRect">
            <a:avLst>
              <a:gd name="adj" fmla="val 42105"/>
            </a:avLst>
          </a:prstGeom>
          <a:solidFill>
            <a:srgbClr val="747474"/>
          </a:solidFill>
          <a:ln w="1270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67000" y="356760"/>
            <a:ext cx="529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01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234440" y="3474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引起動機｜生活直覺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76800" y="932760"/>
            <a:ext cx="10926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面積變小，周長也會跟著變小嗎？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667440" y="1746360"/>
            <a:ext cx="10881360" cy="360"/>
          </a:xfrm>
          <a:prstGeom prst="line">
            <a:avLst/>
          </a:prstGeom>
          <a:ln w="15875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685800" y="6053040"/>
            <a:ext cx="10817280" cy="360"/>
          </a:xfrm>
          <a:prstGeom prst="line">
            <a:avLst/>
          </a:prstGeom>
          <a:ln w="15240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1243440" y="6181200"/>
            <a:ext cx="10240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先用熟悉的圖形想一想：你的第一個答案是什麼？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822960" y="2139840"/>
            <a:ext cx="10560960" cy="3547440"/>
          </a:xfrm>
          <a:prstGeom prst="roundRect">
            <a:avLst>
              <a:gd name="adj" fmla="val 3093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1920240" y="2514600"/>
            <a:ext cx="2514240" cy="251424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7708320" y="3117960"/>
            <a:ext cx="1307160" cy="130716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5065560" y="3794760"/>
            <a:ext cx="1801440" cy="360"/>
          </a:xfrm>
          <a:prstGeom prst="line">
            <a:avLst/>
          </a:prstGeom>
          <a:ln w="3302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 flipH="1">
            <a:off x="6761160" y="3794760"/>
            <a:ext cx="105840" cy="72000"/>
          </a:xfrm>
          <a:prstGeom prst="line">
            <a:avLst/>
          </a:prstGeom>
          <a:ln w="3302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000" bIns="27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 flipH="1" flipV="1">
            <a:off x="6761160" y="3722400"/>
            <a:ext cx="105840" cy="72360"/>
          </a:xfrm>
          <a:prstGeom prst="line">
            <a:avLst/>
          </a:prstGeom>
          <a:ln w="3302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360" bIns="2736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1325880" y="5193720"/>
            <a:ext cx="361152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3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原來的圖形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6693480" y="5193720"/>
            <a:ext cx="34743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3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縮小後的圖形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4736520" y="3008520"/>
            <a:ext cx="23223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2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面積變小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9107280" y="3447360"/>
            <a:ext cx="17827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9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周長呢？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/>
          <p:cNvSpPr/>
          <p:nvPr/>
        </p:nvSpPr>
        <p:spPr>
          <a:xfrm>
            <a:off x="567000" y="347400"/>
            <a:ext cx="529920" cy="347040"/>
          </a:xfrm>
          <a:prstGeom prst="roundRect">
            <a:avLst>
              <a:gd name="adj" fmla="val 42105"/>
            </a:avLst>
          </a:prstGeom>
          <a:solidFill>
            <a:srgbClr val="747474"/>
          </a:solidFill>
          <a:ln w="1270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567000" y="356760"/>
            <a:ext cx="529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02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1234440" y="3474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S</a:t>
            </a:r>
            <a:r>
              <a:rPr b="1" lang="zh-CN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｜確認舊知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3"/>
          <p:cNvSpPr/>
          <p:nvPr/>
        </p:nvSpPr>
        <p:spPr>
          <a:xfrm>
            <a:off x="676800" y="932760"/>
            <a:ext cx="10926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等比例縮小：面積與周長確實都會變小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4"/>
          <p:cNvSpPr/>
          <p:nvPr/>
        </p:nvSpPr>
        <p:spPr>
          <a:xfrm>
            <a:off x="667440" y="1746360"/>
            <a:ext cx="10881360" cy="360"/>
          </a:xfrm>
          <a:prstGeom prst="line">
            <a:avLst/>
          </a:prstGeom>
          <a:ln w="15875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5"/>
          <p:cNvSpPr/>
          <p:nvPr/>
        </p:nvSpPr>
        <p:spPr>
          <a:xfrm>
            <a:off x="685800" y="6053040"/>
            <a:ext cx="10817280" cy="360"/>
          </a:xfrm>
          <a:prstGeom prst="line">
            <a:avLst/>
          </a:prstGeom>
          <a:ln w="15240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6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7"/>
          <p:cNvSpPr/>
          <p:nvPr/>
        </p:nvSpPr>
        <p:spPr>
          <a:xfrm>
            <a:off x="1243440" y="6181200"/>
            <a:ext cx="10240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邊長縮成一半：周長變一半，面積變四分之一。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8"/>
          <p:cNvSpPr/>
          <p:nvPr/>
        </p:nvSpPr>
        <p:spPr>
          <a:xfrm>
            <a:off x="758880" y="2020680"/>
            <a:ext cx="5092920" cy="3785400"/>
          </a:xfrm>
          <a:prstGeom prst="roundRect">
            <a:avLst>
              <a:gd name="adj" fmla="val 2899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9"/>
          <p:cNvSpPr/>
          <p:nvPr/>
        </p:nvSpPr>
        <p:spPr>
          <a:xfrm>
            <a:off x="6327720" y="2020680"/>
            <a:ext cx="5092920" cy="3785400"/>
          </a:xfrm>
          <a:prstGeom prst="roundRect">
            <a:avLst>
              <a:gd name="adj" fmla="val 2899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0"/>
          <p:cNvSpPr/>
          <p:nvPr/>
        </p:nvSpPr>
        <p:spPr>
          <a:xfrm>
            <a:off x="1984320" y="2386440"/>
            <a:ext cx="2102760" cy="210276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1581840" y="4645080"/>
            <a:ext cx="2925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3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邊長 </a:t>
            </a:r>
            <a:r>
              <a:rPr b="1" lang="en-US" sz="23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4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2"/>
          <p:cNvSpPr/>
          <p:nvPr/>
        </p:nvSpPr>
        <p:spPr>
          <a:xfrm>
            <a:off x="8129160" y="2907720"/>
            <a:ext cx="1051200" cy="10512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7232760" y="4645080"/>
            <a:ext cx="286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3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邊長 </a:t>
            </a:r>
            <a:r>
              <a:rPr b="1" lang="en-US" sz="23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2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4"/>
          <p:cNvSpPr/>
          <p:nvPr/>
        </p:nvSpPr>
        <p:spPr>
          <a:xfrm>
            <a:off x="5888520" y="3712320"/>
            <a:ext cx="393120" cy="360"/>
          </a:xfrm>
          <a:prstGeom prst="line">
            <a:avLst/>
          </a:prstGeom>
          <a:ln w="2794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5"/>
          <p:cNvSpPr/>
          <p:nvPr/>
        </p:nvSpPr>
        <p:spPr>
          <a:xfrm flipH="1">
            <a:off x="6176160" y="3712320"/>
            <a:ext cx="105480" cy="72360"/>
          </a:xfrm>
          <a:prstGeom prst="line">
            <a:avLst/>
          </a:prstGeom>
          <a:ln w="2794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360" bIns="2736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6"/>
          <p:cNvSpPr/>
          <p:nvPr/>
        </p:nvSpPr>
        <p:spPr>
          <a:xfrm flipH="1" flipV="1">
            <a:off x="6176160" y="3639960"/>
            <a:ext cx="105480" cy="72360"/>
          </a:xfrm>
          <a:prstGeom prst="line">
            <a:avLst/>
          </a:prstGeom>
          <a:ln w="2794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360" bIns="2736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1280160" y="5139000"/>
            <a:ext cx="4068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3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面積：</a:t>
            </a:r>
            <a:r>
              <a:rPr b="0" lang="en-US" sz="23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16 → 4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6849000" y="5139000"/>
            <a:ext cx="4068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3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周長：</a:t>
            </a:r>
            <a:r>
              <a:rPr b="1" lang="en-US" sz="23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16 → 8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567000" y="347400"/>
            <a:ext cx="529920" cy="347040"/>
          </a:xfrm>
          <a:prstGeom prst="roundRect">
            <a:avLst>
              <a:gd name="adj" fmla="val 42105"/>
            </a:avLst>
          </a:prstGeom>
          <a:solidFill>
            <a:srgbClr val="747474"/>
          </a:solidFill>
          <a:ln w="1270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567000" y="356760"/>
            <a:ext cx="529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03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1234440" y="3474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S</a:t>
            </a:r>
            <a:r>
              <a:rPr b="1" lang="zh-CN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｜提出新問題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676800" y="932760"/>
            <a:ext cx="10926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但「面積變小」不一定是整個圖形縮小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4"/>
          <p:cNvSpPr/>
          <p:nvPr/>
        </p:nvSpPr>
        <p:spPr>
          <a:xfrm>
            <a:off x="667440" y="1746360"/>
            <a:ext cx="10881360" cy="360"/>
          </a:xfrm>
          <a:prstGeom prst="line">
            <a:avLst/>
          </a:prstGeom>
          <a:ln w="15875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685800" y="6053040"/>
            <a:ext cx="10817280" cy="360"/>
          </a:xfrm>
          <a:prstGeom prst="line">
            <a:avLst/>
          </a:prstGeom>
          <a:ln w="15240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6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1243440" y="6181200"/>
            <a:ext cx="10240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如果不是縮小，而是在圖形裡挖一個洞呢？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8"/>
          <p:cNvSpPr/>
          <p:nvPr/>
        </p:nvSpPr>
        <p:spPr>
          <a:xfrm>
            <a:off x="758880" y="2030040"/>
            <a:ext cx="5074560" cy="3821760"/>
          </a:xfrm>
          <a:prstGeom prst="roundRect">
            <a:avLst>
              <a:gd name="adj" fmla="val 2871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9"/>
          <p:cNvSpPr/>
          <p:nvPr/>
        </p:nvSpPr>
        <p:spPr>
          <a:xfrm>
            <a:off x="6355080" y="2030040"/>
            <a:ext cx="5074560" cy="3821760"/>
          </a:xfrm>
          <a:prstGeom prst="roundRect">
            <a:avLst>
              <a:gd name="adj" fmla="val 2871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0"/>
          <p:cNvSpPr/>
          <p:nvPr/>
        </p:nvSpPr>
        <p:spPr>
          <a:xfrm>
            <a:off x="2030040" y="2496240"/>
            <a:ext cx="2239920" cy="22399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1"/>
          <p:cNvSpPr/>
          <p:nvPr/>
        </p:nvSpPr>
        <p:spPr>
          <a:xfrm>
            <a:off x="7772400" y="2496240"/>
            <a:ext cx="2239920" cy="22399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2"/>
          <p:cNvSpPr/>
          <p:nvPr/>
        </p:nvSpPr>
        <p:spPr>
          <a:xfrm>
            <a:off x="8613720" y="3337560"/>
            <a:ext cx="557280" cy="55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3"/>
          <p:cNvSpPr/>
          <p:nvPr/>
        </p:nvSpPr>
        <p:spPr>
          <a:xfrm>
            <a:off x="1380600" y="4992480"/>
            <a:ext cx="3611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3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面積 </a:t>
            </a:r>
            <a:r>
              <a:rPr b="1" lang="en-US" sz="23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16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4"/>
          <p:cNvSpPr/>
          <p:nvPr/>
        </p:nvSpPr>
        <p:spPr>
          <a:xfrm>
            <a:off x="7104960" y="4992480"/>
            <a:ext cx="3611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3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面積 </a:t>
            </a:r>
            <a:r>
              <a:rPr b="1" lang="en-US" sz="23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15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5"/>
          <p:cNvSpPr/>
          <p:nvPr/>
        </p:nvSpPr>
        <p:spPr>
          <a:xfrm>
            <a:off x="1298520" y="5449680"/>
            <a:ext cx="376704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0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全部邊界：</a:t>
            </a:r>
            <a:r>
              <a:rPr b="0" lang="en-US" sz="20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16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6"/>
          <p:cNvSpPr/>
          <p:nvPr/>
        </p:nvSpPr>
        <p:spPr>
          <a:xfrm>
            <a:off x="7049880" y="5449680"/>
            <a:ext cx="376704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2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全部邊界：？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7"/>
          <p:cNvSpPr/>
          <p:nvPr/>
        </p:nvSpPr>
        <p:spPr>
          <a:xfrm>
            <a:off x="5870160" y="3693960"/>
            <a:ext cx="475560" cy="360"/>
          </a:xfrm>
          <a:prstGeom prst="line">
            <a:avLst/>
          </a:prstGeom>
          <a:ln w="2667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8"/>
          <p:cNvSpPr/>
          <p:nvPr/>
        </p:nvSpPr>
        <p:spPr>
          <a:xfrm flipH="1">
            <a:off x="6240240" y="3693960"/>
            <a:ext cx="105480" cy="72360"/>
          </a:xfrm>
          <a:prstGeom prst="line">
            <a:avLst/>
          </a:prstGeom>
          <a:ln w="2667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360" bIns="2736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9"/>
          <p:cNvSpPr/>
          <p:nvPr/>
        </p:nvSpPr>
        <p:spPr>
          <a:xfrm flipH="1" flipV="1">
            <a:off x="6240240" y="3621600"/>
            <a:ext cx="105480" cy="72360"/>
          </a:xfrm>
          <a:prstGeom prst="line">
            <a:avLst/>
          </a:prstGeom>
          <a:ln w="2667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360" bIns="2736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567000" y="347400"/>
            <a:ext cx="529920" cy="347040"/>
          </a:xfrm>
          <a:prstGeom prst="roundRect">
            <a:avLst>
              <a:gd name="adj" fmla="val 42105"/>
            </a:avLst>
          </a:prstGeom>
          <a:solidFill>
            <a:srgbClr val="747474"/>
          </a:solidFill>
          <a:ln w="1270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567000" y="356760"/>
            <a:ext cx="529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1234440" y="3474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S</a:t>
            </a:r>
            <a:r>
              <a:rPr b="1" lang="zh-CN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｜形成認知衝突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"/>
          <p:cNvSpPr/>
          <p:nvPr/>
        </p:nvSpPr>
        <p:spPr>
          <a:xfrm>
            <a:off x="676800" y="932760"/>
            <a:ext cx="10926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挖掉一小塊，面積減少，邊界卻增加！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4"/>
          <p:cNvSpPr/>
          <p:nvPr/>
        </p:nvSpPr>
        <p:spPr>
          <a:xfrm>
            <a:off x="667440" y="1746360"/>
            <a:ext cx="10881360" cy="360"/>
          </a:xfrm>
          <a:prstGeom prst="line">
            <a:avLst/>
          </a:prstGeom>
          <a:ln w="15875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5"/>
          <p:cNvSpPr/>
          <p:nvPr/>
        </p:nvSpPr>
        <p:spPr>
          <a:xfrm>
            <a:off x="685800" y="6053040"/>
            <a:ext cx="10817280" cy="360"/>
          </a:xfrm>
          <a:prstGeom prst="line">
            <a:avLst/>
          </a:prstGeom>
          <a:ln w="15240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6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1243440" y="6181200"/>
            <a:ext cx="10240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關鍵差別：等比例縮小 </a:t>
            </a:r>
            <a:r>
              <a:rPr b="1" lang="en-US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vs. </a:t>
            </a:r>
            <a:r>
              <a:rPr b="1" lang="zh-CN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增加內部孔洞。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8"/>
          <p:cNvSpPr/>
          <p:nvPr/>
        </p:nvSpPr>
        <p:spPr>
          <a:xfrm>
            <a:off x="749880" y="2094120"/>
            <a:ext cx="5193360" cy="3611520"/>
          </a:xfrm>
          <a:prstGeom prst="roundRect">
            <a:avLst>
              <a:gd name="adj" fmla="val 3038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9"/>
          <p:cNvSpPr/>
          <p:nvPr/>
        </p:nvSpPr>
        <p:spPr>
          <a:xfrm>
            <a:off x="1810440" y="2541960"/>
            <a:ext cx="2486880" cy="24868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0"/>
          <p:cNvSpPr/>
          <p:nvPr/>
        </p:nvSpPr>
        <p:spPr>
          <a:xfrm>
            <a:off x="2743200" y="3474720"/>
            <a:ext cx="621360" cy="6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1"/>
          <p:cNvSpPr/>
          <p:nvPr/>
        </p:nvSpPr>
        <p:spPr>
          <a:xfrm>
            <a:off x="2743200" y="3474720"/>
            <a:ext cx="621360" cy="621360"/>
          </a:xfrm>
          <a:prstGeom prst="rect">
            <a:avLst/>
          </a:prstGeom>
          <a:noFill/>
          <a:ln w="4191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2"/>
          <p:cNvSpPr/>
          <p:nvPr/>
        </p:nvSpPr>
        <p:spPr>
          <a:xfrm>
            <a:off x="1143000" y="5175360"/>
            <a:ext cx="446184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9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橘色：新增的孔洞邊界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3"/>
          <p:cNvSpPr/>
          <p:nvPr/>
        </p:nvSpPr>
        <p:spPr>
          <a:xfrm>
            <a:off x="6291000" y="2185560"/>
            <a:ext cx="5001480" cy="1343880"/>
          </a:xfrm>
          <a:prstGeom prst="roundRect">
            <a:avLst>
              <a:gd name="adj" fmla="val 8163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4"/>
          <p:cNvSpPr/>
          <p:nvPr/>
        </p:nvSpPr>
        <p:spPr>
          <a:xfrm>
            <a:off x="6684120" y="239580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2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面積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5"/>
          <p:cNvSpPr/>
          <p:nvPr/>
        </p:nvSpPr>
        <p:spPr>
          <a:xfrm>
            <a:off x="8275320" y="2304360"/>
            <a:ext cx="261468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3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16 → 15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6"/>
          <p:cNvSpPr/>
          <p:nvPr/>
        </p:nvSpPr>
        <p:spPr>
          <a:xfrm>
            <a:off x="6291000" y="3730680"/>
            <a:ext cx="5001480" cy="1636560"/>
          </a:xfrm>
          <a:prstGeom prst="roundRect">
            <a:avLst>
              <a:gd name="adj" fmla="val 6704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7"/>
          <p:cNvSpPr/>
          <p:nvPr/>
        </p:nvSpPr>
        <p:spPr>
          <a:xfrm>
            <a:off x="6684120" y="3913560"/>
            <a:ext cx="3849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3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全部邊界長度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8"/>
          <p:cNvSpPr/>
          <p:nvPr/>
        </p:nvSpPr>
        <p:spPr>
          <a:xfrm>
            <a:off x="6748200" y="4471560"/>
            <a:ext cx="400464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3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16 + 4 = 20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567000" y="347400"/>
            <a:ext cx="529920" cy="347040"/>
          </a:xfrm>
          <a:prstGeom prst="roundRect">
            <a:avLst>
              <a:gd name="adj" fmla="val 42105"/>
            </a:avLst>
          </a:prstGeom>
          <a:solidFill>
            <a:srgbClr val="747474"/>
          </a:solidFill>
          <a:ln w="1270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567000" y="356760"/>
            <a:ext cx="529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05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1234440" y="3474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O</a:t>
            </a:r>
            <a:r>
              <a:rPr b="1" lang="zh-CN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｜組織規律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676800" y="932760"/>
            <a:ext cx="10926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如果挖空一再重複，會發生什麼？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4"/>
          <p:cNvSpPr/>
          <p:nvPr/>
        </p:nvSpPr>
        <p:spPr>
          <a:xfrm>
            <a:off x="667440" y="1746360"/>
            <a:ext cx="10881360" cy="360"/>
          </a:xfrm>
          <a:prstGeom prst="line">
            <a:avLst/>
          </a:prstGeom>
          <a:ln w="15875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5"/>
          <p:cNvSpPr/>
          <p:nvPr/>
        </p:nvSpPr>
        <p:spPr>
          <a:xfrm>
            <a:off x="685800" y="6053040"/>
            <a:ext cx="10817280" cy="360"/>
          </a:xfrm>
          <a:prstGeom prst="line">
            <a:avLst/>
          </a:prstGeom>
          <a:ln w="15240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6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7"/>
          <p:cNvSpPr/>
          <p:nvPr/>
        </p:nvSpPr>
        <p:spPr>
          <a:xfrm>
            <a:off x="1243440" y="6181200"/>
            <a:ext cx="10240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先觀察變化，再找規律；現在才進入一個特殊的三角形。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8"/>
          <p:cNvSpPr/>
          <p:nvPr/>
        </p:nvSpPr>
        <p:spPr>
          <a:xfrm>
            <a:off x="822960" y="2523600"/>
            <a:ext cx="1828440" cy="158328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9"/>
          <p:cNvSpPr/>
          <p:nvPr/>
        </p:nvSpPr>
        <p:spPr>
          <a:xfrm>
            <a:off x="822960" y="4718160"/>
            <a:ext cx="1828440" cy="429480"/>
          </a:xfrm>
          <a:prstGeom prst="roundRect">
            <a:avLst>
              <a:gd name="adj" fmla="val 25532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0"/>
          <p:cNvSpPr/>
          <p:nvPr/>
        </p:nvSpPr>
        <p:spPr>
          <a:xfrm>
            <a:off x="932760" y="4736520"/>
            <a:ext cx="160884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0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第 </a:t>
            </a:r>
            <a:r>
              <a:rPr b="0" lang="en-US" sz="20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0 </a:t>
            </a:r>
            <a:r>
              <a:rPr b="0" lang="zh-CN" sz="20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次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1"/>
          <p:cNvSpPr/>
          <p:nvPr/>
        </p:nvSpPr>
        <p:spPr>
          <a:xfrm>
            <a:off x="2816280" y="3429000"/>
            <a:ext cx="320040" cy="360"/>
          </a:xfrm>
          <a:prstGeom prst="line">
            <a:avLst/>
          </a:prstGeom>
          <a:ln w="2794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2"/>
          <p:cNvSpPr/>
          <p:nvPr/>
        </p:nvSpPr>
        <p:spPr>
          <a:xfrm flipH="1">
            <a:off x="3030480" y="3429000"/>
            <a:ext cx="105840" cy="72000"/>
          </a:xfrm>
          <a:prstGeom prst="line">
            <a:avLst/>
          </a:prstGeom>
          <a:ln w="2794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000" bIns="27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3"/>
          <p:cNvSpPr/>
          <p:nvPr/>
        </p:nvSpPr>
        <p:spPr>
          <a:xfrm flipH="1" flipV="1">
            <a:off x="3030480" y="3356640"/>
            <a:ext cx="105840" cy="72360"/>
          </a:xfrm>
          <a:prstGeom prst="line">
            <a:avLst/>
          </a:prstGeom>
          <a:ln w="2794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360" bIns="2736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4"/>
          <p:cNvSpPr/>
          <p:nvPr/>
        </p:nvSpPr>
        <p:spPr>
          <a:xfrm>
            <a:off x="3749040" y="2523600"/>
            <a:ext cx="914040" cy="791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5"/>
          <p:cNvSpPr/>
          <p:nvPr/>
        </p:nvSpPr>
        <p:spPr>
          <a:xfrm>
            <a:off x="3291840" y="3315600"/>
            <a:ext cx="914040" cy="791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6"/>
          <p:cNvSpPr/>
          <p:nvPr/>
        </p:nvSpPr>
        <p:spPr>
          <a:xfrm>
            <a:off x="4206240" y="3315600"/>
            <a:ext cx="914040" cy="791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7"/>
          <p:cNvSpPr/>
          <p:nvPr/>
        </p:nvSpPr>
        <p:spPr>
          <a:xfrm>
            <a:off x="3291840" y="4718160"/>
            <a:ext cx="1828440" cy="429480"/>
          </a:xfrm>
          <a:prstGeom prst="roundRect">
            <a:avLst>
              <a:gd name="adj" fmla="val 25532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8"/>
          <p:cNvSpPr/>
          <p:nvPr/>
        </p:nvSpPr>
        <p:spPr>
          <a:xfrm>
            <a:off x="3401640" y="4736520"/>
            <a:ext cx="160884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0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第 </a:t>
            </a:r>
            <a:r>
              <a:rPr b="0" lang="en-US" sz="20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1 </a:t>
            </a:r>
            <a:r>
              <a:rPr b="0" lang="zh-CN" sz="20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次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9"/>
          <p:cNvSpPr/>
          <p:nvPr/>
        </p:nvSpPr>
        <p:spPr>
          <a:xfrm>
            <a:off x="5285160" y="3429000"/>
            <a:ext cx="320040" cy="360"/>
          </a:xfrm>
          <a:prstGeom prst="line">
            <a:avLst/>
          </a:prstGeom>
          <a:ln w="2794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0"/>
          <p:cNvSpPr/>
          <p:nvPr/>
        </p:nvSpPr>
        <p:spPr>
          <a:xfrm flipH="1">
            <a:off x="5499360" y="3429000"/>
            <a:ext cx="105840" cy="72000"/>
          </a:xfrm>
          <a:prstGeom prst="line">
            <a:avLst/>
          </a:prstGeom>
          <a:ln w="2794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000" bIns="27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1"/>
          <p:cNvSpPr/>
          <p:nvPr/>
        </p:nvSpPr>
        <p:spPr>
          <a:xfrm flipH="1" flipV="1">
            <a:off x="5499360" y="3356640"/>
            <a:ext cx="105840" cy="72360"/>
          </a:xfrm>
          <a:prstGeom prst="line">
            <a:avLst/>
          </a:prstGeom>
          <a:ln w="2794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360" bIns="2736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2"/>
          <p:cNvSpPr/>
          <p:nvPr/>
        </p:nvSpPr>
        <p:spPr>
          <a:xfrm>
            <a:off x="6437520" y="2523600"/>
            <a:ext cx="456840" cy="395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3"/>
          <p:cNvSpPr/>
          <p:nvPr/>
        </p:nvSpPr>
        <p:spPr>
          <a:xfrm>
            <a:off x="6208920" y="2919600"/>
            <a:ext cx="456840" cy="395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4"/>
          <p:cNvSpPr/>
          <p:nvPr/>
        </p:nvSpPr>
        <p:spPr>
          <a:xfrm>
            <a:off x="6666120" y="2919600"/>
            <a:ext cx="456840" cy="395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5"/>
          <p:cNvSpPr/>
          <p:nvPr/>
        </p:nvSpPr>
        <p:spPr>
          <a:xfrm>
            <a:off x="5980320" y="3315600"/>
            <a:ext cx="456840" cy="395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6"/>
          <p:cNvSpPr/>
          <p:nvPr/>
        </p:nvSpPr>
        <p:spPr>
          <a:xfrm>
            <a:off x="5751720" y="3711600"/>
            <a:ext cx="456840" cy="395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7"/>
          <p:cNvSpPr/>
          <p:nvPr/>
        </p:nvSpPr>
        <p:spPr>
          <a:xfrm>
            <a:off x="6208920" y="3711600"/>
            <a:ext cx="456840" cy="395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8"/>
          <p:cNvSpPr/>
          <p:nvPr/>
        </p:nvSpPr>
        <p:spPr>
          <a:xfrm>
            <a:off x="6894720" y="3315600"/>
            <a:ext cx="456840" cy="395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9"/>
          <p:cNvSpPr/>
          <p:nvPr/>
        </p:nvSpPr>
        <p:spPr>
          <a:xfrm>
            <a:off x="6666120" y="3711600"/>
            <a:ext cx="456840" cy="395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0"/>
          <p:cNvSpPr/>
          <p:nvPr/>
        </p:nvSpPr>
        <p:spPr>
          <a:xfrm>
            <a:off x="7123320" y="3711600"/>
            <a:ext cx="456840" cy="395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1"/>
          <p:cNvSpPr/>
          <p:nvPr/>
        </p:nvSpPr>
        <p:spPr>
          <a:xfrm>
            <a:off x="5751720" y="4718160"/>
            <a:ext cx="1828440" cy="429480"/>
          </a:xfrm>
          <a:prstGeom prst="roundRect">
            <a:avLst>
              <a:gd name="adj" fmla="val 25532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2"/>
          <p:cNvSpPr/>
          <p:nvPr/>
        </p:nvSpPr>
        <p:spPr>
          <a:xfrm>
            <a:off x="5861160" y="4736520"/>
            <a:ext cx="160884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0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第 </a:t>
            </a:r>
            <a:r>
              <a:rPr b="0" lang="en-US" sz="20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2 </a:t>
            </a:r>
            <a:r>
              <a:rPr b="0" lang="zh-CN" sz="20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次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33"/>
          <p:cNvSpPr/>
          <p:nvPr/>
        </p:nvSpPr>
        <p:spPr>
          <a:xfrm>
            <a:off x="7744680" y="3429000"/>
            <a:ext cx="320040" cy="360"/>
          </a:xfrm>
          <a:prstGeom prst="line">
            <a:avLst/>
          </a:prstGeom>
          <a:ln w="2794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34"/>
          <p:cNvSpPr/>
          <p:nvPr/>
        </p:nvSpPr>
        <p:spPr>
          <a:xfrm flipH="1">
            <a:off x="7959240" y="3429000"/>
            <a:ext cx="105480" cy="72000"/>
          </a:xfrm>
          <a:prstGeom prst="line">
            <a:avLst/>
          </a:prstGeom>
          <a:ln w="2794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000" bIns="27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35"/>
          <p:cNvSpPr/>
          <p:nvPr/>
        </p:nvSpPr>
        <p:spPr>
          <a:xfrm flipH="1" flipV="1">
            <a:off x="7959240" y="3356640"/>
            <a:ext cx="105480" cy="72360"/>
          </a:xfrm>
          <a:prstGeom prst="line">
            <a:avLst/>
          </a:prstGeom>
          <a:ln w="2794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360" bIns="2736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36"/>
          <p:cNvSpPr/>
          <p:nvPr/>
        </p:nvSpPr>
        <p:spPr>
          <a:xfrm>
            <a:off x="9057240" y="2523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37"/>
          <p:cNvSpPr/>
          <p:nvPr/>
        </p:nvSpPr>
        <p:spPr>
          <a:xfrm>
            <a:off x="8942760" y="2721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38"/>
          <p:cNvSpPr/>
          <p:nvPr/>
        </p:nvSpPr>
        <p:spPr>
          <a:xfrm>
            <a:off x="9171360" y="2721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39"/>
          <p:cNvSpPr/>
          <p:nvPr/>
        </p:nvSpPr>
        <p:spPr>
          <a:xfrm>
            <a:off x="8828640" y="2919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40"/>
          <p:cNvSpPr/>
          <p:nvPr/>
        </p:nvSpPr>
        <p:spPr>
          <a:xfrm>
            <a:off x="8714160" y="3117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41"/>
          <p:cNvSpPr/>
          <p:nvPr/>
        </p:nvSpPr>
        <p:spPr>
          <a:xfrm>
            <a:off x="8942760" y="3117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42"/>
          <p:cNvSpPr/>
          <p:nvPr/>
        </p:nvSpPr>
        <p:spPr>
          <a:xfrm>
            <a:off x="9285840" y="2919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43"/>
          <p:cNvSpPr/>
          <p:nvPr/>
        </p:nvSpPr>
        <p:spPr>
          <a:xfrm>
            <a:off x="9171360" y="3117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44"/>
          <p:cNvSpPr/>
          <p:nvPr/>
        </p:nvSpPr>
        <p:spPr>
          <a:xfrm>
            <a:off x="9399960" y="3117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45"/>
          <p:cNvSpPr/>
          <p:nvPr/>
        </p:nvSpPr>
        <p:spPr>
          <a:xfrm>
            <a:off x="8600040" y="3315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46"/>
          <p:cNvSpPr/>
          <p:nvPr/>
        </p:nvSpPr>
        <p:spPr>
          <a:xfrm>
            <a:off x="8485560" y="3513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47"/>
          <p:cNvSpPr/>
          <p:nvPr/>
        </p:nvSpPr>
        <p:spPr>
          <a:xfrm>
            <a:off x="8714160" y="3513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48"/>
          <p:cNvSpPr/>
          <p:nvPr/>
        </p:nvSpPr>
        <p:spPr>
          <a:xfrm>
            <a:off x="8371440" y="3711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49"/>
          <p:cNvSpPr/>
          <p:nvPr/>
        </p:nvSpPr>
        <p:spPr>
          <a:xfrm>
            <a:off x="8256960" y="3909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50"/>
          <p:cNvSpPr/>
          <p:nvPr/>
        </p:nvSpPr>
        <p:spPr>
          <a:xfrm>
            <a:off x="8485560" y="3909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51"/>
          <p:cNvSpPr/>
          <p:nvPr/>
        </p:nvSpPr>
        <p:spPr>
          <a:xfrm>
            <a:off x="8828640" y="3711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52"/>
          <p:cNvSpPr/>
          <p:nvPr/>
        </p:nvSpPr>
        <p:spPr>
          <a:xfrm>
            <a:off x="8714160" y="3909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53"/>
          <p:cNvSpPr/>
          <p:nvPr/>
        </p:nvSpPr>
        <p:spPr>
          <a:xfrm>
            <a:off x="8942760" y="3909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54"/>
          <p:cNvSpPr/>
          <p:nvPr/>
        </p:nvSpPr>
        <p:spPr>
          <a:xfrm>
            <a:off x="9514440" y="3315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55"/>
          <p:cNvSpPr/>
          <p:nvPr/>
        </p:nvSpPr>
        <p:spPr>
          <a:xfrm>
            <a:off x="9399960" y="3513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56"/>
          <p:cNvSpPr/>
          <p:nvPr/>
        </p:nvSpPr>
        <p:spPr>
          <a:xfrm>
            <a:off x="9628560" y="3513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57"/>
          <p:cNvSpPr/>
          <p:nvPr/>
        </p:nvSpPr>
        <p:spPr>
          <a:xfrm>
            <a:off x="9285840" y="3711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58"/>
          <p:cNvSpPr/>
          <p:nvPr/>
        </p:nvSpPr>
        <p:spPr>
          <a:xfrm>
            <a:off x="9171360" y="3909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59"/>
          <p:cNvSpPr/>
          <p:nvPr/>
        </p:nvSpPr>
        <p:spPr>
          <a:xfrm>
            <a:off x="9399960" y="3909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60"/>
          <p:cNvSpPr/>
          <p:nvPr/>
        </p:nvSpPr>
        <p:spPr>
          <a:xfrm>
            <a:off x="9743040" y="3711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61"/>
          <p:cNvSpPr/>
          <p:nvPr/>
        </p:nvSpPr>
        <p:spPr>
          <a:xfrm>
            <a:off x="9628560" y="3909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62"/>
          <p:cNvSpPr/>
          <p:nvPr/>
        </p:nvSpPr>
        <p:spPr>
          <a:xfrm>
            <a:off x="9857160" y="3909600"/>
            <a:ext cx="228240" cy="1976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63"/>
          <p:cNvSpPr/>
          <p:nvPr/>
        </p:nvSpPr>
        <p:spPr>
          <a:xfrm>
            <a:off x="8256960" y="4718160"/>
            <a:ext cx="1828440" cy="429480"/>
          </a:xfrm>
          <a:prstGeom prst="roundRect">
            <a:avLst>
              <a:gd name="adj" fmla="val 25532"/>
            </a:avLst>
          </a:prstGeom>
          <a:solidFill>
            <a:srgbClr val="fbeae4"/>
          </a:solidFill>
          <a:ln w="12700">
            <a:solidFill>
              <a:srgbClr val="fbea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64"/>
          <p:cNvSpPr/>
          <p:nvPr/>
        </p:nvSpPr>
        <p:spPr>
          <a:xfrm>
            <a:off x="8366760" y="4736520"/>
            <a:ext cx="160884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0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第 </a:t>
            </a:r>
            <a:r>
              <a:rPr b="1" lang="en-US" sz="20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3 </a:t>
            </a:r>
            <a:r>
              <a:rPr b="1" lang="zh-CN" sz="20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次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65"/>
          <p:cNvSpPr/>
          <p:nvPr/>
        </p:nvSpPr>
        <p:spPr>
          <a:xfrm>
            <a:off x="1280160" y="5340240"/>
            <a:ext cx="96922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2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每一個保留的三角形，都再變成 </a:t>
            </a:r>
            <a:r>
              <a:rPr b="0" lang="en-US" sz="22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3 </a:t>
            </a:r>
            <a:r>
              <a:rPr b="0" lang="zh-CN" sz="22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個更小的三角形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0"/>
          <p:cNvSpPr/>
          <p:nvPr/>
        </p:nvSpPr>
        <p:spPr>
          <a:xfrm>
            <a:off x="567000" y="347400"/>
            <a:ext cx="529920" cy="347040"/>
          </a:xfrm>
          <a:prstGeom prst="roundRect">
            <a:avLst>
              <a:gd name="adj" fmla="val 42105"/>
            </a:avLst>
          </a:prstGeom>
          <a:solidFill>
            <a:srgbClr val="747474"/>
          </a:solidFill>
          <a:ln w="1270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567000" y="356760"/>
            <a:ext cx="529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06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"/>
          <p:cNvSpPr/>
          <p:nvPr/>
        </p:nvSpPr>
        <p:spPr>
          <a:xfrm>
            <a:off x="1234440" y="3474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O</a:t>
            </a:r>
            <a:r>
              <a:rPr b="1" lang="zh-CN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｜組織規律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676800" y="932760"/>
            <a:ext cx="10926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每次都只留下原本面積的四分之三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4"/>
          <p:cNvSpPr/>
          <p:nvPr/>
        </p:nvSpPr>
        <p:spPr>
          <a:xfrm>
            <a:off x="667440" y="1746360"/>
            <a:ext cx="10881360" cy="360"/>
          </a:xfrm>
          <a:prstGeom prst="line">
            <a:avLst/>
          </a:prstGeom>
          <a:ln w="15875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155" name="Shape 5"/>
          <p:cNvSpPr/>
          <p:nvPr/>
        </p:nvSpPr>
        <p:spPr>
          <a:xfrm>
            <a:off x="685800" y="6053040"/>
            <a:ext cx="10817280" cy="360"/>
          </a:xfrm>
          <a:prstGeom prst="line">
            <a:avLst/>
          </a:prstGeom>
          <a:ln w="15240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156" name="Shape 6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157" name="Text 7"/>
          <p:cNvSpPr/>
          <p:nvPr/>
        </p:nvSpPr>
        <p:spPr>
          <a:xfrm>
            <a:off x="1243440" y="6181200"/>
            <a:ext cx="10240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面積每次都乘上相同的比例，而且比例小於一。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8"/>
          <p:cNvSpPr/>
          <p:nvPr/>
        </p:nvSpPr>
        <p:spPr>
          <a:xfrm>
            <a:off x="713160" y="2066400"/>
            <a:ext cx="5166000" cy="3611520"/>
          </a:xfrm>
          <a:prstGeom prst="roundRect">
            <a:avLst>
              <a:gd name="adj" fmla="val 3038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159" name="Shape 9"/>
          <p:cNvSpPr/>
          <p:nvPr/>
        </p:nvSpPr>
        <p:spPr>
          <a:xfrm>
            <a:off x="1645920" y="2450520"/>
            <a:ext cx="3172680" cy="27428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508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160" name="Shape 10"/>
          <p:cNvSpPr/>
          <p:nvPr/>
        </p:nvSpPr>
        <p:spPr>
          <a:xfrm rot="10800000">
            <a:off x="2439360" y="3822480"/>
            <a:ext cx="1586160" cy="1371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161" name="Text 12"/>
          <p:cNvSpPr/>
          <p:nvPr/>
        </p:nvSpPr>
        <p:spPr>
          <a:xfrm>
            <a:off x="7726680" y="249624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→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4"/>
          <p:cNvSpPr/>
          <p:nvPr/>
        </p:nvSpPr>
        <p:spPr>
          <a:xfrm>
            <a:off x="6592680" y="3364920"/>
            <a:ext cx="4014360" cy="360"/>
          </a:xfrm>
          <a:prstGeom prst="line">
            <a:avLst/>
          </a:prstGeom>
          <a:ln w="25400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163" name="Text 15"/>
          <p:cNvSpPr/>
          <p:nvPr/>
        </p:nvSpPr>
        <p:spPr>
          <a:xfrm>
            <a:off x="6537960" y="379476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2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第 </a:t>
            </a:r>
            <a:r>
              <a:rPr b="0" lang="en-US" sz="22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n </a:t>
            </a:r>
            <a:r>
              <a:rPr b="0" lang="zh-CN" sz="22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次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7"/>
          <p:cNvSpPr/>
          <p:nvPr/>
        </p:nvSpPr>
        <p:spPr>
          <a:xfrm>
            <a:off x="6819840" y="2528280"/>
            <a:ext cx="23076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900" strike="noStrike" u="none">
                <a:solidFill>
                  <a:srgbClr val="222222"/>
                </a:solidFill>
                <a:effectLst/>
                <a:uFillTx/>
                <a:latin typeface="Cambria Math"/>
              </a:rPr>
              <a:t>A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8"/>
          <p:cNvSpPr/>
          <p:nvPr/>
        </p:nvSpPr>
        <p:spPr>
          <a:xfrm>
            <a:off x="7041600" y="2768400"/>
            <a:ext cx="2016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740" strike="noStrike" u="none">
                <a:solidFill>
                  <a:srgbClr val="222222"/>
                </a:solidFill>
                <a:effectLst/>
                <a:uFillTx/>
                <a:latin typeface="Cambria Math"/>
              </a:rPr>
              <a:t>0</a:t>
            </a:r>
            <a:endParaRPr b="0" lang="en-US" sz="1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9"/>
          <p:cNvSpPr/>
          <p:nvPr/>
        </p:nvSpPr>
        <p:spPr>
          <a:xfrm>
            <a:off x="9138240" y="2450520"/>
            <a:ext cx="1569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700" strike="noStrike" u="none">
                <a:solidFill>
                  <a:srgbClr val="222222"/>
                </a:solidFill>
                <a:effectLst/>
                <a:uFillTx/>
                <a:latin typeface="Cambria Math"/>
              </a:rPr>
              <a:t>(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20"/>
          <p:cNvSpPr/>
          <p:nvPr/>
        </p:nvSpPr>
        <p:spPr>
          <a:xfrm>
            <a:off x="9356760" y="2473560"/>
            <a:ext cx="31068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29" strike="noStrike" u="none">
                <a:solidFill>
                  <a:srgbClr val="222222"/>
                </a:solidFill>
                <a:effectLst/>
                <a:uFillTx/>
                <a:latin typeface="Cambria Math"/>
              </a:rPr>
              <a:t>3</a:t>
            </a:r>
            <a:endParaRPr b="0" lang="en-US" sz="182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8" name="Connector 21"/>
          <p:cNvCxnSpPr/>
          <p:nvPr/>
        </p:nvCxnSpPr>
        <p:spPr>
          <a:xfrm>
            <a:off x="9402480" y="2755440"/>
            <a:ext cx="219600" cy="360"/>
          </a:xfrm>
          <a:prstGeom prst="straightConnector1">
            <a:avLst/>
          </a:prstGeom>
          <a:ln w="13970">
            <a:solidFill>
              <a:srgbClr val="222222"/>
            </a:solidFill>
          </a:ln>
        </p:spPr>
      </p:cxnSp>
      <p:sp>
        <p:nvSpPr>
          <p:cNvPr id="169" name="TextBox 22"/>
          <p:cNvSpPr/>
          <p:nvPr/>
        </p:nvSpPr>
        <p:spPr>
          <a:xfrm>
            <a:off x="9356760" y="2796120"/>
            <a:ext cx="3106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29" strike="noStrike" u="none">
                <a:solidFill>
                  <a:srgbClr val="222222"/>
                </a:solidFill>
                <a:effectLst/>
                <a:uFillTx/>
                <a:latin typeface="Cambria Math"/>
              </a:rPr>
              <a:t>4</a:t>
            </a:r>
            <a:endParaRPr b="0" lang="en-US" sz="182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23"/>
          <p:cNvSpPr/>
          <p:nvPr/>
        </p:nvSpPr>
        <p:spPr>
          <a:xfrm>
            <a:off x="9729000" y="2450520"/>
            <a:ext cx="1569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700" strike="noStrike" u="none">
                <a:solidFill>
                  <a:srgbClr val="222222"/>
                </a:solidFill>
                <a:effectLst/>
                <a:uFillTx/>
                <a:latin typeface="Cambria Math"/>
              </a:rPr>
              <a:t>)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24"/>
          <p:cNvSpPr/>
          <p:nvPr/>
        </p:nvSpPr>
        <p:spPr>
          <a:xfrm>
            <a:off x="9947880" y="2418480"/>
            <a:ext cx="21456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700" strike="noStrike" u="none">
                <a:solidFill>
                  <a:srgbClr val="222222"/>
                </a:solidFill>
                <a:effectLst/>
                <a:uFillTx/>
                <a:latin typeface="Cambria Math"/>
              </a:rPr>
              <a:t>A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25"/>
          <p:cNvSpPr/>
          <p:nvPr/>
        </p:nvSpPr>
        <p:spPr>
          <a:xfrm>
            <a:off x="10153800" y="2746440"/>
            <a:ext cx="193680" cy="3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620" strike="noStrike" u="none">
                <a:solidFill>
                  <a:srgbClr val="222222"/>
                </a:solidFill>
                <a:effectLst/>
                <a:uFillTx/>
                <a:latin typeface="Cambria Math"/>
              </a:rPr>
              <a:t>0</a:t>
            </a:r>
            <a:endParaRPr b="0" lang="en-US" sz="1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26"/>
          <p:cNvSpPr/>
          <p:nvPr/>
        </p:nvSpPr>
        <p:spPr>
          <a:xfrm>
            <a:off x="7735320" y="4348080"/>
            <a:ext cx="2066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60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A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27"/>
          <p:cNvSpPr/>
          <p:nvPr/>
        </p:nvSpPr>
        <p:spPr>
          <a:xfrm>
            <a:off x="7933320" y="4693320"/>
            <a:ext cx="18972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56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n</a:t>
            </a:r>
            <a:endParaRPr b="0" lang="en-US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28"/>
          <p:cNvSpPr/>
          <p:nvPr/>
        </p:nvSpPr>
        <p:spPr>
          <a:xfrm>
            <a:off x="8166240" y="4380120"/>
            <a:ext cx="15120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60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=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29"/>
          <p:cNvSpPr/>
          <p:nvPr/>
        </p:nvSpPr>
        <p:spPr>
          <a:xfrm>
            <a:off x="8379360" y="4348080"/>
            <a:ext cx="2066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60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A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30"/>
          <p:cNvSpPr/>
          <p:nvPr/>
        </p:nvSpPr>
        <p:spPr>
          <a:xfrm>
            <a:off x="8577360" y="4693320"/>
            <a:ext cx="18972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56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0</a:t>
            </a:r>
            <a:endParaRPr b="0" lang="en-US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31"/>
          <p:cNvSpPr/>
          <p:nvPr/>
        </p:nvSpPr>
        <p:spPr>
          <a:xfrm>
            <a:off x="8810280" y="4380120"/>
            <a:ext cx="15120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60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×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32"/>
          <p:cNvSpPr/>
          <p:nvPr/>
        </p:nvSpPr>
        <p:spPr>
          <a:xfrm>
            <a:off x="9023400" y="4380120"/>
            <a:ext cx="15120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60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(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33"/>
          <p:cNvSpPr/>
          <p:nvPr/>
        </p:nvSpPr>
        <p:spPr>
          <a:xfrm>
            <a:off x="9236160" y="4421160"/>
            <a:ext cx="31068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77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3</a:t>
            </a:r>
            <a:endParaRPr b="0" lang="en-US" sz="17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1" name="Connector 34"/>
          <p:cNvCxnSpPr/>
          <p:nvPr/>
        </p:nvCxnSpPr>
        <p:spPr>
          <a:xfrm>
            <a:off x="9281520" y="4703040"/>
            <a:ext cx="219960" cy="360"/>
          </a:xfrm>
          <a:prstGeom prst="straightConnector1">
            <a:avLst/>
          </a:prstGeom>
          <a:ln w="13970">
            <a:solidFill>
              <a:srgbClr val="d35230"/>
            </a:solidFill>
          </a:ln>
        </p:spPr>
      </p:cxnSp>
      <p:sp>
        <p:nvSpPr>
          <p:cNvPr id="182" name="TextBox 35"/>
          <p:cNvSpPr/>
          <p:nvPr/>
        </p:nvSpPr>
        <p:spPr>
          <a:xfrm>
            <a:off x="9236160" y="4743720"/>
            <a:ext cx="3106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77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4</a:t>
            </a:r>
            <a:endParaRPr b="0" lang="en-US" sz="17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36"/>
          <p:cNvSpPr/>
          <p:nvPr/>
        </p:nvSpPr>
        <p:spPr>
          <a:xfrm>
            <a:off x="9608400" y="4380120"/>
            <a:ext cx="15120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60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)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37"/>
          <p:cNvSpPr/>
          <p:nvPr/>
        </p:nvSpPr>
        <p:spPr>
          <a:xfrm>
            <a:off x="9821160" y="4407480"/>
            <a:ext cx="684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38"/>
          <p:cNvSpPr/>
          <p:nvPr/>
        </p:nvSpPr>
        <p:spPr>
          <a:xfrm>
            <a:off x="9880560" y="4265640"/>
            <a:ext cx="168840" cy="4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56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n</a:t>
            </a:r>
            <a:endParaRPr b="0" lang="en-US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0"/>
          <p:cNvSpPr/>
          <p:nvPr/>
        </p:nvSpPr>
        <p:spPr>
          <a:xfrm>
            <a:off x="567000" y="347400"/>
            <a:ext cx="529920" cy="347040"/>
          </a:xfrm>
          <a:prstGeom prst="roundRect">
            <a:avLst>
              <a:gd name="adj" fmla="val 42105"/>
            </a:avLst>
          </a:prstGeom>
          <a:solidFill>
            <a:srgbClr val="747474"/>
          </a:solidFill>
          <a:ln w="1270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187" name="Text 1"/>
          <p:cNvSpPr/>
          <p:nvPr/>
        </p:nvSpPr>
        <p:spPr>
          <a:xfrm>
            <a:off x="567000" y="356760"/>
            <a:ext cx="529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07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"/>
          <p:cNvSpPr/>
          <p:nvPr/>
        </p:nvSpPr>
        <p:spPr>
          <a:xfrm>
            <a:off x="1234440" y="3474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I</a:t>
            </a:r>
            <a:r>
              <a:rPr b="1" lang="zh-CN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｜從規律推理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"/>
          <p:cNvSpPr/>
          <p:nvPr/>
        </p:nvSpPr>
        <p:spPr>
          <a:xfrm>
            <a:off x="676800" y="932760"/>
            <a:ext cx="10926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為什麼反覆乘上四分之三，最後會趨近零？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4"/>
          <p:cNvSpPr/>
          <p:nvPr/>
        </p:nvSpPr>
        <p:spPr>
          <a:xfrm>
            <a:off x="667440" y="1746360"/>
            <a:ext cx="10881360" cy="360"/>
          </a:xfrm>
          <a:prstGeom prst="line">
            <a:avLst/>
          </a:prstGeom>
          <a:ln w="15875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191" name="Shape 5"/>
          <p:cNvSpPr/>
          <p:nvPr/>
        </p:nvSpPr>
        <p:spPr>
          <a:xfrm>
            <a:off x="685800" y="6053040"/>
            <a:ext cx="10817280" cy="360"/>
          </a:xfrm>
          <a:prstGeom prst="line">
            <a:avLst/>
          </a:prstGeom>
          <a:ln w="15240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192" name="Shape 6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193" name="Text 7"/>
          <p:cNvSpPr/>
          <p:nvPr/>
        </p:nvSpPr>
        <p:spPr>
          <a:xfrm>
            <a:off x="1243440" y="6181200"/>
            <a:ext cx="10240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每一次都保留一些，但保留下來的總面積趨近於 </a:t>
            </a:r>
            <a:r>
              <a:rPr b="1" lang="en-US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0</a:t>
            </a:r>
            <a:r>
              <a:rPr b="1" lang="zh-CN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8"/>
          <p:cNvSpPr/>
          <p:nvPr/>
        </p:nvSpPr>
        <p:spPr>
          <a:xfrm>
            <a:off x="914400" y="2103120"/>
            <a:ext cx="1078560" cy="2742840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195" name="Text 9"/>
          <p:cNvSpPr/>
          <p:nvPr/>
        </p:nvSpPr>
        <p:spPr>
          <a:xfrm>
            <a:off x="1106280" y="4937760"/>
            <a:ext cx="65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0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0"/>
          <p:cNvSpPr/>
          <p:nvPr/>
        </p:nvSpPr>
        <p:spPr>
          <a:xfrm>
            <a:off x="731520" y="5266800"/>
            <a:ext cx="14810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100.0%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1"/>
          <p:cNvSpPr/>
          <p:nvPr/>
        </p:nvSpPr>
        <p:spPr>
          <a:xfrm>
            <a:off x="2697480" y="2788920"/>
            <a:ext cx="1078560" cy="2057040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198" name="Text 12"/>
          <p:cNvSpPr/>
          <p:nvPr/>
        </p:nvSpPr>
        <p:spPr>
          <a:xfrm>
            <a:off x="2889360" y="4937760"/>
            <a:ext cx="65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1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2514600" y="5266800"/>
            <a:ext cx="14810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75.0%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4"/>
          <p:cNvSpPr/>
          <p:nvPr/>
        </p:nvSpPr>
        <p:spPr>
          <a:xfrm>
            <a:off x="4480560" y="3303360"/>
            <a:ext cx="1078560" cy="1542600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01" name="Text 15"/>
          <p:cNvSpPr/>
          <p:nvPr/>
        </p:nvSpPr>
        <p:spPr>
          <a:xfrm>
            <a:off x="4672440" y="4937760"/>
            <a:ext cx="65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2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6"/>
          <p:cNvSpPr/>
          <p:nvPr/>
        </p:nvSpPr>
        <p:spPr>
          <a:xfrm>
            <a:off x="4297680" y="5266800"/>
            <a:ext cx="14810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56.3%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7"/>
          <p:cNvSpPr/>
          <p:nvPr/>
        </p:nvSpPr>
        <p:spPr>
          <a:xfrm>
            <a:off x="6263640" y="3688920"/>
            <a:ext cx="1078560" cy="1157040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04" name="Text 18"/>
          <p:cNvSpPr/>
          <p:nvPr/>
        </p:nvSpPr>
        <p:spPr>
          <a:xfrm>
            <a:off x="6455520" y="4937760"/>
            <a:ext cx="65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3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9"/>
          <p:cNvSpPr/>
          <p:nvPr/>
        </p:nvSpPr>
        <p:spPr>
          <a:xfrm>
            <a:off x="6080760" y="5266800"/>
            <a:ext cx="14810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42.2%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20"/>
          <p:cNvSpPr/>
          <p:nvPr/>
        </p:nvSpPr>
        <p:spPr>
          <a:xfrm>
            <a:off x="8046720" y="3978360"/>
            <a:ext cx="1078560" cy="867600"/>
          </a:xfrm>
          <a:prstGeom prst="rect">
            <a:avLst/>
          </a:prstGeom>
          <a:solidFill>
            <a:srgbClr val="414141"/>
          </a:solidFill>
          <a:ln w="12700">
            <a:solidFill>
              <a:srgbClr val="4141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07" name="Text 21"/>
          <p:cNvSpPr/>
          <p:nvPr/>
        </p:nvSpPr>
        <p:spPr>
          <a:xfrm>
            <a:off x="8238600" y="4937760"/>
            <a:ext cx="65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4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2"/>
          <p:cNvSpPr/>
          <p:nvPr/>
        </p:nvSpPr>
        <p:spPr>
          <a:xfrm>
            <a:off x="7863840" y="5266800"/>
            <a:ext cx="14810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31.6%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3"/>
          <p:cNvSpPr/>
          <p:nvPr/>
        </p:nvSpPr>
        <p:spPr>
          <a:xfrm>
            <a:off x="9829800" y="4195440"/>
            <a:ext cx="1078560" cy="650520"/>
          </a:xfrm>
          <a:prstGeom prst="rect">
            <a:avLst/>
          </a:prstGeom>
          <a:solidFill>
            <a:srgbClr val="d35230"/>
          </a:solidFill>
          <a:ln w="1270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10" name="Text 24"/>
          <p:cNvSpPr/>
          <p:nvPr/>
        </p:nvSpPr>
        <p:spPr>
          <a:xfrm>
            <a:off x="10021680" y="4937760"/>
            <a:ext cx="65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5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5"/>
          <p:cNvSpPr/>
          <p:nvPr/>
        </p:nvSpPr>
        <p:spPr>
          <a:xfrm>
            <a:off x="9646920" y="5266800"/>
            <a:ext cx="14810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23.7%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6"/>
          <p:cNvSpPr/>
          <p:nvPr/>
        </p:nvSpPr>
        <p:spPr>
          <a:xfrm>
            <a:off x="813960" y="562356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操作次數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28"/>
          <p:cNvSpPr/>
          <p:nvPr/>
        </p:nvSpPr>
        <p:spPr>
          <a:xfrm>
            <a:off x="3657600" y="2203560"/>
            <a:ext cx="15724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40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n → ∞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29"/>
          <p:cNvSpPr/>
          <p:nvPr/>
        </p:nvSpPr>
        <p:spPr>
          <a:xfrm>
            <a:off x="6085080" y="2185560"/>
            <a:ext cx="1630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(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30"/>
          <p:cNvSpPr/>
          <p:nvPr/>
        </p:nvSpPr>
        <p:spPr>
          <a:xfrm>
            <a:off x="6309720" y="2189880"/>
            <a:ext cx="31068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90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3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6" name="Connector 31"/>
          <p:cNvCxnSpPr/>
          <p:nvPr/>
        </p:nvCxnSpPr>
        <p:spPr>
          <a:xfrm>
            <a:off x="6355440" y="2472120"/>
            <a:ext cx="219600" cy="360"/>
          </a:xfrm>
          <a:prstGeom prst="straightConnector1">
            <a:avLst/>
          </a:prstGeom>
          <a:ln w="13970">
            <a:solidFill>
              <a:srgbClr val="d35230"/>
            </a:solidFill>
          </a:ln>
        </p:spPr>
      </p:cxnSp>
      <p:sp>
        <p:nvSpPr>
          <p:cNvPr id="217" name="TextBox 32"/>
          <p:cNvSpPr/>
          <p:nvPr/>
        </p:nvSpPr>
        <p:spPr>
          <a:xfrm>
            <a:off x="6309720" y="2512440"/>
            <a:ext cx="3106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90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4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33"/>
          <p:cNvSpPr/>
          <p:nvPr/>
        </p:nvSpPr>
        <p:spPr>
          <a:xfrm>
            <a:off x="6681960" y="2185560"/>
            <a:ext cx="1630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34"/>
          <p:cNvSpPr/>
          <p:nvPr/>
        </p:nvSpPr>
        <p:spPr>
          <a:xfrm>
            <a:off x="6906600" y="2212920"/>
            <a:ext cx="684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35"/>
          <p:cNvSpPr/>
          <p:nvPr/>
        </p:nvSpPr>
        <p:spPr>
          <a:xfrm>
            <a:off x="6966000" y="2071080"/>
            <a:ext cx="1738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679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n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36"/>
          <p:cNvSpPr/>
          <p:nvPr/>
        </p:nvSpPr>
        <p:spPr>
          <a:xfrm>
            <a:off x="7155720" y="2185560"/>
            <a:ext cx="1630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→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37"/>
          <p:cNvSpPr/>
          <p:nvPr/>
        </p:nvSpPr>
        <p:spPr>
          <a:xfrm>
            <a:off x="7380360" y="2185560"/>
            <a:ext cx="222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0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0"/>
          <p:cNvSpPr/>
          <p:nvPr/>
        </p:nvSpPr>
        <p:spPr>
          <a:xfrm>
            <a:off x="567000" y="347400"/>
            <a:ext cx="529920" cy="347040"/>
          </a:xfrm>
          <a:prstGeom prst="roundRect">
            <a:avLst>
              <a:gd name="adj" fmla="val 42105"/>
            </a:avLst>
          </a:prstGeom>
          <a:solidFill>
            <a:srgbClr val="747474"/>
          </a:solidFill>
          <a:ln w="1270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567000" y="356760"/>
            <a:ext cx="529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08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"/>
          <p:cNvSpPr/>
          <p:nvPr/>
        </p:nvSpPr>
        <p:spPr>
          <a:xfrm>
            <a:off x="1234440" y="3474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O</a:t>
            </a:r>
            <a:r>
              <a:rPr b="1" lang="zh-CN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｜比較關係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3"/>
          <p:cNvSpPr/>
          <p:nvPr/>
        </p:nvSpPr>
        <p:spPr>
          <a:xfrm>
            <a:off x="676800" y="932760"/>
            <a:ext cx="10926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挖去一塊，卻增加了新的內部邊界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4"/>
          <p:cNvSpPr/>
          <p:nvPr/>
        </p:nvSpPr>
        <p:spPr>
          <a:xfrm>
            <a:off x="667440" y="1746360"/>
            <a:ext cx="10881360" cy="360"/>
          </a:xfrm>
          <a:prstGeom prst="line">
            <a:avLst/>
          </a:prstGeom>
          <a:ln w="15875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28" name="Shape 5"/>
          <p:cNvSpPr/>
          <p:nvPr/>
        </p:nvSpPr>
        <p:spPr>
          <a:xfrm>
            <a:off x="685800" y="6053040"/>
            <a:ext cx="10817280" cy="360"/>
          </a:xfrm>
          <a:prstGeom prst="line">
            <a:avLst/>
          </a:prstGeom>
          <a:ln w="15240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29" name="Shape 6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30" name="Text 7"/>
          <p:cNvSpPr/>
          <p:nvPr/>
        </p:nvSpPr>
        <p:spPr>
          <a:xfrm>
            <a:off x="1243440" y="6181200"/>
            <a:ext cx="10240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小三角形變多得比邊長縮短得快。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8"/>
          <p:cNvSpPr/>
          <p:nvPr/>
        </p:nvSpPr>
        <p:spPr>
          <a:xfrm>
            <a:off x="731520" y="2030040"/>
            <a:ext cx="5696280" cy="3657240"/>
          </a:xfrm>
          <a:prstGeom prst="roundRect">
            <a:avLst>
              <a:gd name="adj" fmla="val 3000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32" name="Shape 9"/>
          <p:cNvSpPr/>
          <p:nvPr/>
        </p:nvSpPr>
        <p:spPr>
          <a:xfrm>
            <a:off x="2651760" y="2414160"/>
            <a:ext cx="1791720" cy="155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33" name="Shape 10"/>
          <p:cNvSpPr/>
          <p:nvPr/>
        </p:nvSpPr>
        <p:spPr>
          <a:xfrm>
            <a:off x="1755720" y="3966120"/>
            <a:ext cx="1791720" cy="155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34" name="Shape 11"/>
          <p:cNvSpPr/>
          <p:nvPr/>
        </p:nvSpPr>
        <p:spPr>
          <a:xfrm>
            <a:off x="3547800" y="3966120"/>
            <a:ext cx="1791720" cy="155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35" name="Shape 12"/>
          <p:cNvSpPr/>
          <p:nvPr/>
        </p:nvSpPr>
        <p:spPr>
          <a:xfrm flipH="1">
            <a:off x="1755360" y="2413800"/>
            <a:ext cx="1792440" cy="3104280"/>
          </a:xfrm>
          <a:prstGeom prst="line">
            <a:avLst/>
          </a:prstGeom>
          <a:ln w="3175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36" name="Shape 13"/>
          <p:cNvSpPr/>
          <p:nvPr/>
        </p:nvSpPr>
        <p:spPr>
          <a:xfrm>
            <a:off x="3547800" y="2413800"/>
            <a:ext cx="1792080" cy="3104280"/>
          </a:xfrm>
          <a:prstGeom prst="line">
            <a:avLst/>
          </a:prstGeom>
          <a:ln w="3175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37" name="Shape 14"/>
          <p:cNvSpPr/>
          <p:nvPr/>
        </p:nvSpPr>
        <p:spPr>
          <a:xfrm>
            <a:off x="1755360" y="5518080"/>
            <a:ext cx="3584520" cy="360"/>
          </a:xfrm>
          <a:prstGeom prst="line">
            <a:avLst/>
          </a:prstGeom>
          <a:ln w="3175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38" name="Shape 15"/>
          <p:cNvSpPr/>
          <p:nvPr/>
        </p:nvSpPr>
        <p:spPr>
          <a:xfrm>
            <a:off x="2651760" y="3966120"/>
            <a:ext cx="1792080" cy="360"/>
          </a:xfrm>
          <a:prstGeom prst="line">
            <a:avLst/>
          </a:prstGeom>
          <a:ln w="4445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39" name="Shape 16"/>
          <p:cNvSpPr/>
          <p:nvPr/>
        </p:nvSpPr>
        <p:spPr>
          <a:xfrm>
            <a:off x="2651760" y="3966120"/>
            <a:ext cx="896040" cy="1551960"/>
          </a:xfrm>
          <a:prstGeom prst="line">
            <a:avLst/>
          </a:prstGeom>
          <a:ln w="4445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40" name="Shape 17"/>
          <p:cNvSpPr/>
          <p:nvPr/>
        </p:nvSpPr>
        <p:spPr>
          <a:xfrm flipH="1">
            <a:off x="3547800" y="3966120"/>
            <a:ext cx="896040" cy="1551960"/>
          </a:xfrm>
          <a:prstGeom prst="line">
            <a:avLst/>
          </a:prstGeom>
          <a:ln w="4445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41" name="Text 18"/>
          <p:cNvSpPr/>
          <p:nvPr/>
        </p:nvSpPr>
        <p:spPr>
          <a:xfrm>
            <a:off x="6812280" y="2423160"/>
            <a:ext cx="45716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5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原來：</a:t>
            </a:r>
            <a:r>
              <a:rPr b="0" lang="en-US" sz="25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1 </a:t>
            </a:r>
            <a:r>
              <a:rPr b="0" lang="zh-CN" sz="25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個三角形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9"/>
          <p:cNvSpPr/>
          <p:nvPr/>
        </p:nvSpPr>
        <p:spPr>
          <a:xfrm>
            <a:off x="6812280" y="3246120"/>
            <a:ext cx="45716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5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變成：</a:t>
            </a:r>
            <a:r>
              <a:rPr b="0" lang="en-US" sz="25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3 </a:t>
            </a:r>
            <a:r>
              <a:rPr b="0" lang="zh-CN" sz="25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個小三角形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0"/>
          <p:cNvSpPr/>
          <p:nvPr/>
        </p:nvSpPr>
        <p:spPr>
          <a:xfrm>
            <a:off x="6812280" y="4069080"/>
            <a:ext cx="45716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5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每個邊長：原本的一半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1"/>
          <p:cNvSpPr/>
          <p:nvPr/>
        </p:nvSpPr>
        <p:spPr>
          <a:xfrm>
            <a:off x="6812280" y="4928760"/>
            <a:ext cx="45716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邊界總長：原本的 </a:t>
            </a:r>
            <a:r>
              <a:rPr b="1" lang="en-US" sz="28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1.5 </a:t>
            </a:r>
            <a:r>
              <a:rPr b="1" lang="zh-CN" sz="28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倍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/>
          <p:cNvSpPr/>
          <p:nvPr/>
        </p:nvSpPr>
        <p:spPr>
          <a:xfrm>
            <a:off x="567000" y="347400"/>
            <a:ext cx="529920" cy="347040"/>
          </a:xfrm>
          <a:prstGeom prst="roundRect">
            <a:avLst>
              <a:gd name="adj" fmla="val 42105"/>
            </a:avLst>
          </a:prstGeom>
          <a:solidFill>
            <a:srgbClr val="747474"/>
          </a:solidFill>
          <a:ln w="1270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46" name="Text 1"/>
          <p:cNvSpPr/>
          <p:nvPr/>
        </p:nvSpPr>
        <p:spPr>
          <a:xfrm>
            <a:off x="567000" y="356760"/>
            <a:ext cx="529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09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"/>
          <p:cNvSpPr/>
          <p:nvPr/>
        </p:nvSpPr>
        <p:spPr>
          <a:xfrm>
            <a:off x="1234440" y="3474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I</a:t>
            </a:r>
            <a:r>
              <a:rPr b="1" lang="zh-CN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｜釐清定義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3"/>
          <p:cNvSpPr/>
          <p:nvPr/>
        </p:nvSpPr>
        <p:spPr>
          <a:xfrm>
            <a:off x="676800" y="932760"/>
            <a:ext cx="10926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說「周長無限大」，到底算了哪些邊？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4"/>
          <p:cNvSpPr/>
          <p:nvPr/>
        </p:nvSpPr>
        <p:spPr>
          <a:xfrm>
            <a:off x="667440" y="1746360"/>
            <a:ext cx="10881360" cy="360"/>
          </a:xfrm>
          <a:prstGeom prst="line">
            <a:avLst/>
          </a:prstGeom>
          <a:ln w="15875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50" name="Shape 5"/>
          <p:cNvSpPr/>
          <p:nvPr/>
        </p:nvSpPr>
        <p:spPr>
          <a:xfrm>
            <a:off x="685800" y="6053040"/>
            <a:ext cx="10817280" cy="360"/>
          </a:xfrm>
          <a:prstGeom prst="line">
            <a:avLst/>
          </a:prstGeom>
          <a:ln w="15240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51" name="Shape 6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52" name="Text 7"/>
          <p:cNvSpPr/>
          <p:nvPr/>
        </p:nvSpPr>
        <p:spPr>
          <a:xfrm>
            <a:off x="1243440" y="6181200"/>
            <a:ext cx="10240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只算最外框：有限；算全部孔洞邊界：無限增加。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8"/>
          <p:cNvSpPr/>
          <p:nvPr/>
        </p:nvSpPr>
        <p:spPr>
          <a:xfrm>
            <a:off x="777240" y="2020680"/>
            <a:ext cx="4974120" cy="3821760"/>
          </a:xfrm>
          <a:prstGeom prst="roundRect">
            <a:avLst>
              <a:gd name="adj" fmla="val 2871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54" name="Shape 9"/>
          <p:cNvSpPr/>
          <p:nvPr/>
        </p:nvSpPr>
        <p:spPr>
          <a:xfrm>
            <a:off x="6419160" y="2020680"/>
            <a:ext cx="4974120" cy="3821760"/>
          </a:xfrm>
          <a:prstGeom prst="roundRect">
            <a:avLst>
              <a:gd name="adj" fmla="val 2871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55" name="Shape 10"/>
          <p:cNvSpPr/>
          <p:nvPr/>
        </p:nvSpPr>
        <p:spPr>
          <a:xfrm flipH="1">
            <a:off x="1901880" y="2377440"/>
            <a:ext cx="1325880" cy="2296440"/>
          </a:xfrm>
          <a:prstGeom prst="line">
            <a:avLst/>
          </a:prstGeom>
          <a:ln w="5715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56" name="Shape 11"/>
          <p:cNvSpPr/>
          <p:nvPr/>
        </p:nvSpPr>
        <p:spPr>
          <a:xfrm>
            <a:off x="3227760" y="2377440"/>
            <a:ext cx="1325880" cy="2296440"/>
          </a:xfrm>
          <a:prstGeom prst="line">
            <a:avLst/>
          </a:prstGeom>
          <a:ln w="5715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57" name="Shape 12"/>
          <p:cNvSpPr/>
          <p:nvPr/>
        </p:nvSpPr>
        <p:spPr>
          <a:xfrm>
            <a:off x="1901880" y="4673880"/>
            <a:ext cx="2651760" cy="360"/>
          </a:xfrm>
          <a:prstGeom prst="line">
            <a:avLst/>
          </a:prstGeom>
          <a:ln w="5715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58" name="Text 13"/>
          <p:cNvSpPr/>
          <p:nvPr/>
        </p:nvSpPr>
        <p:spPr>
          <a:xfrm>
            <a:off x="1234440" y="490104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3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只算最外框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4"/>
          <p:cNvSpPr/>
          <p:nvPr/>
        </p:nvSpPr>
        <p:spPr>
          <a:xfrm>
            <a:off x="1234440" y="54864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0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一直是 </a:t>
            </a:r>
            <a:r>
              <a:rPr b="0" lang="en-US" sz="20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3a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5"/>
          <p:cNvSpPr/>
          <p:nvPr/>
        </p:nvSpPr>
        <p:spPr>
          <a:xfrm>
            <a:off x="8792640" y="233172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61" name="Shape 16"/>
          <p:cNvSpPr/>
          <p:nvPr/>
        </p:nvSpPr>
        <p:spPr>
          <a:xfrm>
            <a:off x="8706240" y="248112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62" name="Shape 17"/>
          <p:cNvSpPr/>
          <p:nvPr/>
        </p:nvSpPr>
        <p:spPr>
          <a:xfrm>
            <a:off x="8878680" y="248112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63" name="Shape 18"/>
          <p:cNvSpPr/>
          <p:nvPr/>
        </p:nvSpPr>
        <p:spPr>
          <a:xfrm>
            <a:off x="8619840" y="263052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64" name="Shape 19"/>
          <p:cNvSpPr/>
          <p:nvPr/>
        </p:nvSpPr>
        <p:spPr>
          <a:xfrm>
            <a:off x="8533800" y="278028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65" name="Shape 20"/>
          <p:cNvSpPr/>
          <p:nvPr/>
        </p:nvSpPr>
        <p:spPr>
          <a:xfrm>
            <a:off x="8706240" y="278028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66" name="Shape 21"/>
          <p:cNvSpPr/>
          <p:nvPr/>
        </p:nvSpPr>
        <p:spPr>
          <a:xfrm>
            <a:off x="8965080" y="263052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67" name="Shape 22"/>
          <p:cNvSpPr/>
          <p:nvPr/>
        </p:nvSpPr>
        <p:spPr>
          <a:xfrm>
            <a:off x="8878680" y="278028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68" name="Shape 23"/>
          <p:cNvSpPr/>
          <p:nvPr/>
        </p:nvSpPr>
        <p:spPr>
          <a:xfrm>
            <a:off x="9051480" y="278028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69" name="Shape 24"/>
          <p:cNvSpPr/>
          <p:nvPr/>
        </p:nvSpPr>
        <p:spPr>
          <a:xfrm>
            <a:off x="8447400" y="292968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70" name="Shape 25"/>
          <p:cNvSpPr/>
          <p:nvPr/>
        </p:nvSpPr>
        <p:spPr>
          <a:xfrm>
            <a:off x="8361000" y="307908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71" name="Shape 26"/>
          <p:cNvSpPr/>
          <p:nvPr/>
        </p:nvSpPr>
        <p:spPr>
          <a:xfrm>
            <a:off x="8533800" y="307908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72" name="Shape 27"/>
          <p:cNvSpPr/>
          <p:nvPr/>
        </p:nvSpPr>
        <p:spPr>
          <a:xfrm>
            <a:off x="8274600" y="322848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73" name="Shape 28"/>
          <p:cNvSpPr/>
          <p:nvPr/>
        </p:nvSpPr>
        <p:spPr>
          <a:xfrm>
            <a:off x="8188560" y="337788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74" name="Shape 29"/>
          <p:cNvSpPr/>
          <p:nvPr/>
        </p:nvSpPr>
        <p:spPr>
          <a:xfrm>
            <a:off x="8361000" y="337788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75" name="Shape 30"/>
          <p:cNvSpPr/>
          <p:nvPr/>
        </p:nvSpPr>
        <p:spPr>
          <a:xfrm>
            <a:off x="8619840" y="322848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76" name="Shape 31"/>
          <p:cNvSpPr/>
          <p:nvPr/>
        </p:nvSpPr>
        <p:spPr>
          <a:xfrm>
            <a:off x="8533800" y="337788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77" name="Shape 32"/>
          <p:cNvSpPr/>
          <p:nvPr/>
        </p:nvSpPr>
        <p:spPr>
          <a:xfrm>
            <a:off x="8706240" y="337788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78" name="Shape 33"/>
          <p:cNvSpPr/>
          <p:nvPr/>
        </p:nvSpPr>
        <p:spPr>
          <a:xfrm>
            <a:off x="9137880" y="292968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79" name="Shape 34"/>
          <p:cNvSpPr/>
          <p:nvPr/>
        </p:nvSpPr>
        <p:spPr>
          <a:xfrm>
            <a:off x="9051480" y="307908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80" name="Shape 35"/>
          <p:cNvSpPr/>
          <p:nvPr/>
        </p:nvSpPr>
        <p:spPr>
          <a:xfrm>
            <a:off x="9223920" y="307908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81" name="Shape 36"/>
          <p:cNvSpPr/>
          <p:nvPr/>
        </p:nvSpPr>
        <p:spPr>
          <a:xfrm>
            <a:off x="8965080" y="322848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82" name="Shape 37"/>
          <p:cNvSpPr/>
          <p:nvPr/>
        </p:nvSpPr>
        <p:spPr>
          <a:xfrm>
            <a:off x="8878680" y="337788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83" name="Shape 38"/>
          <p:cNvSpPr/>
          <p:nvPr/>
        </p:nvSpPr>
        <p:spPr>
          <a:xfrm>
            <a:off x="9051480" y="337788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84" name="Shape 39"/>
          <p:cNvSpPr/>
          <p:nvPr/>
        </p:nvSpPr>
        <p:spPr>
          <a:xfrm>
            <a:off x="9310320" y="322848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85" name="Shape 40"/>
          <p:cNvSpPr/>
          <p:nvPr/>
        </p:nvSpPr>
        <p:spPr>
          <a:xfrm>
            <a:off x="9223920" y="337788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86" name="Shape 41"/>
          <p:cNvSpPr/>
          <p:nvPr/>
        </p:nvSpPr>
        <p:spPr>
          <a:xfrm>
            <a:off x="9396720" y="337788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87" name="Shape 42"/>
          <p:cNvSpPr/>
          <p:nvPr/>
        </p:nvSpPr>
        <p:spPr>
          <a:xfrm>
            <a:off x="8102160" y="352764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88" name="Shape 43"/>
          <p:cNvSpPr/>
          <p:nvPr/>
        </p:nvSpPr>
        <p:spPr>
          <a:xfrm>
            <a:off x="8015760" y="367704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89" name="Shape 44"/>
          <p:cNvSpPr/>
          <p:nvPr/>
        </p:nvSpPr>
        <p:spPr>
          <a:xfrm>
            <a:off x="8188560" y="367704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90" name="Shape 45"/>
          <p:cNvSpPr/>
          <p:nvPr/>
        </p:nvSpPr>
        <p:spPr>
          <a:xfrm>
            <a:off x="7929720" y="382644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91" name="Shape 46"/>
          <p:cNvSpPr/>
          <p:nvPr/>
        </p:nvSpPr>
        <p:spPr>
          <a:xfrm>
            <a:off x="7843320" y="397584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92" name="Shape 47"/>
          <p:cNvSpPr/>
          <p:nvPr/>
        </p:nvSpPr>
        <p:spPr>
          <a:xfrm>
            <a:off x="8015760" y="397584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93" name="Shape 48"/>
          <p:cNvSpPr/>
          <p:nvPr/>
        </p:nvSpPr>
        <p:spPr>
          <a:xfrm>
            <a:off x="8274600" y="382644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94" name="Shape 49"/>
          <p:cNvSpPr/>
          <p:nvPr/>
        </p:nvSpPr>
        <p:spPr>
          <a:xfrm>
            <a:off x="8188560" y="397584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95" name="Shape 50"/>
          <p:cNvSpPr/>
          <p:nvPr/>
        </p:nvSpPr>
        <p:spPr>
          <a:xfrm>
            <a:off x="8361000" y="397584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96" name="Shape 51"/>
          <p:cNvSpPr/>
          <p:nvPr/>
        </p:nvSpPr>
        <p:spPr>
          <a:xfrm>
            <a:off x="7756920" y="412524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97" name="Shape 52"/>
          <p:cNvSpPr/>
          <p:nvPr/>
        </p:nvSpPr>
        <p:spPr>
          <a:xfrm>
            <a:off x="7670520" y="42750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98" name="Shape 53"/>
          <p:cNvSpPr/>
          <p:nvPr/>
        </p:nvSpPr>
        <p:spPr>
          <a:xfrm>
            <a:off x="7843320" y="42750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299" name="Shape 54"/>
          <p:cNvSpPr/>
          <p:nvPr/>
        </p:nvSpPr>
        <p:spPr>
          <a:xfrm>
            <a:off x="7584480" y="44244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00" name="Shape 55"/>
          <p:cNvSpPr/>
          <p:nvPr/>
        </p:nvSpPr>
        <p:spPr>
          <a:xfrm>
            <a:off x="7498080" y="45738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01" name="Shape 56"/>
          <p:cNvSpPr/>
          <p:nvPr/>
        </p:nvSpPr>
        <p:spPr>
          <a:xfrm>
            <a:off x="7670520" y="45738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02" name="Shape 57"/>
          <p:cNvSpPr/>
          <p:nvPr/>
        </p:nvSpPr>
        <p:spPr>
          <a:xfrm>
            <a:off x="7929720" y="44244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03" name="Shape 58"/>
          <p:cNvSpPr/>
          <p:nvPr/>
        </p:nvSpPr>
        <p:spPr>
          <a:xfrm>
            <a:off x="7843320" y="45738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04" name="Shape 59"/>
          <p:cNvSpPr/>
          <p:nvPr/>
        </p:nvSpPr>
        <p:spPr>
          <a:xfrm>
            <a:off x="8015760" y="45738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05" name="Shape 60"/>
          <p:cNvSpPr/>
          <p:nvPr/>
        </p:nvSpPr>
        <p:spPr>
          <a:xfrm>
            <a:off x="8447400" y="412524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06" name="Shape 61"/>
          <p:cNvSpPr/>
          <p:nvPr/>
        </p:nvSpPr>
        <p:spPr>
          <a:xfrm>
            <a:off x="8361000" y="42750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07" name="Shape 62"/>
          <p:cNvSpPr/>
          <p:nvPr/>
        </p:nvSpPr>
        <p:spPr>
          <a:xfrm>
            <a:off x="8533800" y="42750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08" name="Shape 63"/>
          <p:cNvSpPr/>
          <p:nvPr/>
        </p:nvSpPr>
        <p:spPr>
          <a:xfrm>
            <a:off x="8274600" y="44244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09" name="Shape 64"/>
          <p:cNvSpPr/>
          <p:nvPr/>
        </p:nvSpPr>
        <p:spPr>
          <a:xfrm>
            <a:off x="8188560" y="45738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10" name="Shape 65"/>
          <p:cNvSpPr/>
          <p:nvPr/>
        </p:nvSpPr>
        <p:spPr>
          <a:xfrm>
            <a:off x="8361000" y="45738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11" name="Shape 66"/>
          <p:cNvSpPr/>
          <p:nvPr/>
        </p:nvSpPr>
        <p:spPr>
          <a:xfrm>
            <a:off x="8619840" y="44244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12" name="Shape 67"/>
          <p:cNvSpPr/>
          <p:nvPr/>
        </p:nvSpPr>
        <p:spPr>
          <a:xfrm>
            <a:off x="8533800" y="45738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13" name="Shape 68"/>
          <p:cNvSpPr/>
          <p:nvPr/>
        </p:nvSpPr>
        <p:spPr>
          <a:xfrm>
            <a:off x="8706240" y="45738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14" name="Shape 69"/>
          <p:cNvSpPr/>
          <p:nvPr/>
        </p:nvSpPr>
        <p:spPr>
          <a:xfrm>
            <a:off x="9482760" y="352764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15" name="Shape 70"/>
          <p:cNvSpPr/>
          <p:nvPr/>
        </p:nvSpPr>
        <p:spPr>
          <a:xfrm>
            <a:off x="9396720" y="367704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16" name="Shape 71"/>
          <p:cNvSpPr/>
          <p:nvPr/>
        </p:nvSpPr>
        <p:spPr>
          <a:xfrm>
            <a:off x="9569160" y="367704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17" name="Shape 72"/>
          <p:cNvSpPr/>
          <p:nvPr/>
        </p:nvSpPr>
        <p:spPr>
          <a:xfrm>
            <a:off x="9310320" y="382644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18" name="Shape 73"/>
          <p:cNvSpPr/>
          <p:nvPr/>
        </p:nvSpPr>
        <p:spPr>
          <a:xfrm>
            <a:off x="9223920" y="397584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19" name="Shape 74"/>
          <p:cNvSpPr/>
          <p:nvPr/>
        </p:nvSpPr>
        <p:spPr>
          <a:xfrm>
            <a:off x="9396720" y="397584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20" name="Shape 75"/>
          <p:cNvSpPr/>
          <p:nvPr/>
        </p:nvSpPr>
        <p:spPr>
          <a:xfrm>
            <a:off x="9655560" y="382644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21" name="Shape 76"/>
          <p:cNvSpPr/>
          <p:nvPr/>
        </p:nvSpPr>
        <p:spPr>
          <a:xfrm>
            <a:off x="9569160" y="397584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22" name="Shape 77"/>
          <p:cNvSpPr/>
          <p:nvPr/>
        </p:nvSpPr>
        <p:spPr>
          <a:xfrm>
            <a:off x="9741960" y="397584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23" name="Shape 78"/>
          <p:cNvSpPr/>
          <p:nvPr/>
        </p:nvSpPr>
        <p:spPr>
          <a:xfrm>
            <a:off x="9137880" y="412524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24" name="Shape 79"/>
          <p:cNvSpPr/>
          <p:nvPr/>
        </p:nvSpPr>
        <p:spPr>
          <a:xfrm>
            <a:off x="9051480" y="42750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25" name="Shape 80"/>
          <p:cNvSpPr/>
          <p:nvPr/>
        </p:nvSpPr>
        <p:spPr>
          <a:xfrm>
            <a:off x="9223920" y="42750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26" name="Shape 81"/>
          <p:cNvSpPr/>
          <p:nvPr/>
        </p:nvSpPr>
        <p:spPr>
          <a:xfrm>
            <a:off x="8965080" y="44244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27" name="Shape 82"/>
          <p:cNvSpPr/>
          <p:nvPr/>
        </p:nvSpPr>
        <p:spPr>
          <a:xfrm>
            <a:off x="8878680" y="45738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28" name="Shape 83"/>
          <p:cNvSpPr/>
          <p:nvPr/>
        </p:nvSpPr>
        <p:spPr>
          <a:xfrm>
            <a:off x="9051480" y="45738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29" name="Shape 84"/>
          <p:cNvSpPr/>
          <p:nvPr/>
        </p:nvSpPr>
        <p:spPr>
          <a:xfrm>
            <a:off x="9310320" y="44244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30" name="Shape 85"/>
          <p:cNvSpPr/>
          <p:nvPr/>
        </p:nvSpPr>
        <p:spPr>
          <a:xfrm>
            <a:off x="9223920" y="45738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31" name="Shape 86"/>
          <p:cNvSpPr/>
          <p:nvPr/>
        </p:nvSpPr>
        <p:spPr>
          <a:xfrm>
            <a:off x="9396720" y="45738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32" name="Shape 87"/>
          <p:cNvSpPr/>
          <p:nvPr/>
        </p:nvSpPr>
        <p:spPr>
          <a:xfrm>
            <a:off x="9828000" y="412524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33" name="Shape 88"/>
          <p:cNvSpPr/>
          <p:nvPr/>
        </p:nvSpPr>
        <p:spPr>
          <a:xfrm>
            <a:off x="9741960" y="42750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34" name="Shape 89"/>
          <p:cNvSpPr/>
          <p:nvPr/>
        </p:nvSpPr>
        <p:spPr>
          <a:xfrm>
            <a:off x="9914400" y="42750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35" name="Shape 90"/>
          <p:cNvSpPr/>
          <p:nvPr/>
        </p:nvSpPr>
        <p:spPr>
          <a:xfrm>
            <a:off x="9655560" y="44244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36" name="Shape 91"/>
          <p:cNvSpPr/>
          <p:nvPr/>
        </p:nvSpPr>
        <p:spPr>
          <a:xfrm>
            <a:off x="9569160" y="45738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37" name="Shape 92"/>
          <p:cNvSpPr/>
          <p:nvPr/>
        </p:nvSpPr>
        <p:spPr>
          <a:xfrm>
            <a:off x="9741960" y="45738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38" name="Shape 93"/>
          <p:cNvSpPr/>
          <p:nvPr/>
        </p:nvSpPr>
        <p:spPr>
          <a:xfrm>
            <a:off x="10000800" y="44244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39" name="Shape 94"/>
          <p:cNvSpPr/>
          <p:nvPr/>
        </p:nvSpPr>
        <p:spPr>
          <a:xfrm>
            <a:off x="9914400" y="45738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40" name="Shape 95"/>
          <p:cNvSpPr/>
          <p:nvPr/>
        </p:nvSpPr>
        <p:spPr>
          <a:xfrm>
            <a:off x="10086840" y="4573800"/>
            <a:ext cx="172080" cy="14904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41" name="Text 96"/>
          <p:cNvSpPr/>
          <p:nvPr/>
        </p:nvSpPr>
        <p:spPr>
          <a:xfrm>
            <a:off x="6729840" y="490104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3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所有內外邊界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98"/>
          <p:cNvSpPr/>
          <p:nvPr/>
        </p:nvSpPr>
        <p:spPr>
          <a:xfrm>
            <a:off x="7798680" y="5518440"/>
            <a:ext cx="138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75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P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99"/>
          <p:cNvSpPr/>
          <p:nvPr/>
        </p:nvSpPr>
        <p:spPr>
          <a:xfrm>
            <a:off x="7929000" y="5710320"/>
            <a:ext cx="1558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100"/>
          <p:cNvSpPr/>
          <p:nvPr/>
        </p:nvSpPr>
        <p:spPr>
          <a:xfrm>
            <a:off x="8128080" y="5550480"/>
            <a:ext cx="10152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75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=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101"/>
          <p:cNvSpPr/>
          <p:nvPr/>
        </p:nvSpPr>
        <p:spPr>
          <a:xfrm>
            <a:off x="8291520" y="5550480"/>
            <a:ext cx="2782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75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3a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102"/>
          <p:cNvSpPr/>
          <p:nvPr/>
        </p:nvSpPr>
        <p:spPr>
          <a:xfrm>
            <a:off x="8631720" y="5550480"/>
            <a:ext cx="10152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75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×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Box 103"/>
          <p:cNvSpPr/>
          <p:nvPr/>
        </p:nvSpPr>
        <p:spPr>
          <a:xfrm>
            <a:off x="8794800" y="5550480"/>
            <a:ext cx="10152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75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(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104"/>
          <p:cNvSpPr/>
          <p:nvPr/>
        </p:nvSpPr>
        <p:spPr>
          <a:xfrm>
            <a:off x="8958240" y="5502600"/>
            <a:ext cx="31068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19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3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9" name="Connector 105"/>
          <p:cNvCxnSpPr/>
          <p:nvPr/>
        </p:nvCxnSpPr>
        <p:spPr>
          <a:xfrm>
            <a:off x="9003600" y="5715000"/>
            <a:ext cx="219960" cy="360"/>
          </a:xfrm>
          <a:prstGeom prst="straightConnector1">
            <a:avLst/>
          </a:prstGeom>
          <a:ln w="13970">
            <a:solidFill>
              <a:srgbClr val="d35230"/>
            </a:solidFill>
          </a:ln>
        </p:spPr>
      </p:cxnSp>
      <p:sp>
        <p:nvSpPr>
          <p:cNvPr id="350" name="TextBox 106"/>
          <p:cNvSpPr/>
          <p:nvPr/>
        </p:nvSpPr>
        <p:spPr>
          <a:xfrm>
            <a:off x="8958240" y="5745600"/>
            <a:ext cx="3106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19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2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Box 107"/>
          <p:cNvSpPr/>
          <p:nvPr/>
        </p:nvSpPr>
        <p:spPr>
          <a:xfrm>
            <a:off x="9330480" y="5550480"/>
            <a:ext cx="10152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75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)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108"/>
          <p:cNvSpPr/>
          <p:nvPr/>
        </p:nvSpPr>
        <p:spPr>
          <a:xfrm>
            <a:off x="9493560" y="5577840"/>
            <a:ext cx="684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109"/>
          <p:cNvSpPr/>
          <p:nvPr/>
        </p:nvSpPr>
        <p:spPr>
          <a:xfrm>
            <a:off x="9552960" y="5436000"/>
            <a:ext cx="1688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110"/>
          <p:cNvSpPr/>
          <p:nvPr/>
        </p:nvSpPr>
        <p:spPr>
          <a:xfrm>
            <a:off x="9738000" y="5550480"/>
            <a:ext cx="10152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75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→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111"/>
          <p:cNvSpPr/>
          <p:nvPr/>
        </p:nvSpPr>
        <p:spPr>
          <a:xfrm>
            <a:off x="9901080" y="5550480"/>
            <a:ext cx="14904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75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∞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Shape 0"/>
          <p:cNvSpPr/>
          <p:nvPr/>
        </p:nvSpPr>
        <p:spPr>
          <a:xfrm>
            <a:off x="567000" y="347400"/>
            <a:ext cx="529920" cy="347040"/>
          </a:xfrm>
          <a:prstGeom prst="roundRect">
            <a:avLst>
              <a:gd name="adj" fmla="val 42105"/>
            </a:avLst>
          </a:prstGeom>
          <a:solidFill>
            <a:srgbClr val="747474"/>
          </a:solidFill>
          <a:ln w="1270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57" name="Text 1"/>
          <p:cNvSpPr/>
          <p:nvPr/>
        </p:nvSpPr>
        <p:spPr>
          <a:xfrm>
            <a:off x="567000" y="356760"/>
            <a:ext cx="529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10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2"/>
          <p:cNvSpPr/>
          <p:nvPr/>
        </p:nvSpPr>
        <p:spPr>
          <a:xfrm>
            <a:off x="1234440" y="3474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I</a:t>
            </a:r>
            <a:r>
              <a:rPr b="1" lang="zh-CN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｜建立雙重極限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3"/>
          <p:cNvSpPr/>
          <p:nvPr/>
        </p:nvSpPr>
        <p:spPr>
          <a:xfrm>
            <a:off x="676800" y="932760"/>
            <a:ext cx="10926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同一個操作，為何同時造成兩種相反結果？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4"/>
          <p:cNvSpPr/>
          <p:nvPr/>
        </p:nvSpPr>
        <p:spPr>
          <a:xfrm>
            <a:off x="667440" y="1746360"/>
            <a:ext cx="10881360" cy="360"/>
          </a:xfrm>
          <a:prstGeom prst="line">
            <a:avLst/>
          </a:prstGeom>
          <a:ln w="15875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61" name="Shape 5"/>
          <p:cNvSpPr/>
          <p:nvPr/>
        </p:nvSpPr>
        <p:spPr>
          <a:xfrm>
            <a:off x="685800" y="6053040"/>
            <a:ext cx="10817280" cy="360"/>
          </a:xfrm>
          <a:prstGeom prst="line">
            <a:avLst/>
          </a:prstGeom>
          <a:ln w="15240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62" name="Shape 6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63" name="Text 7"/>
          <p:cNvSpPr/>
          <p:nvPr/>
        </p:nvSpPr>
        <p:spPr>
          <a:xfrm>
            <a:off x="1243440" y="6181200"/>
            <a:ext cx="10240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變化方向不只由大小決定，也取決於我們在測量什麼。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8"/>
          <p:cNvSpPr/>
          <p:nvPr/>
        </p:nvSpPr>
        <p:spPr>
          <a:xfrm>
            <a:off x="822960" y="2112120"/>
            <a:ext cx="5019840" cy="3511080"/>
          </a:xfrm>
          <a:prstGeom prst="roundRect">
            <a:avLst>
              <a:gd name="adj" fmla="val 3125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65" name="Shape 9"/>
          <p:cNvSpPr/>
          <p:nvPr/>
        </p:nvSpPr>
        <p:spPr>
          <a:xfrm>
            <a:off x="6364080" y="2112120"/>
            <a:ext cx="5019840" cy="3511080"/>
          </a:xfrm>
          <a:prstGeom prst="roundRect">
            <a:avLst>
              <a:gd name="adj" fmla="val 3125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66" name="Text 10"/>
          <p:cNvSpPr/>
          <p:nvPr/>
        </p:nvSpPr>
        <p:spPr>
          <a:xfrm>
            <a:off x="1280160" y="242316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面積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1"/>
          <p:cNvSpPr/>
          <p:nvPr/>
        </p:nvSpPr>
        <p:spPr>
          <a:xfrm>
            <a:off x="1307520" y="3044880"/>
            <a:ext cx="41144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3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每次保留 </a:t>
            </a:r>
            <a:r>
              <a:rPr b="0" lang="en-US" sz="23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75%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2"/>
          <p:cNvSpPr/>
          <p:nvPr/>
        </p:nvSpPr>
        <p:spPr>
          <a:xfrm>
            <a:off x="2331720" y="3813120"/>
            <a:ext cx="182844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9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↘</a:t>
            </a:r>
            <a:endParaRPr b="0" lang="en-US" sz="4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3"/>
          <p:cNvSpPr/>
          <p:nvPr/>
        </p:nvSpPr>
        <p:spPr>
          <a:xfrm>
            <a:off x="1417320" y="4809600"/>
            <a:ext cx="37486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趨近 </a:t>
            </a:r>
            <a:r>
              <a:rPr b="1" lang="en-US" sz="28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0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4"/>
          <p:cNvSpPr/>
          <p:nvPr/>
        </p:nvSpPr>
        <p:spPr>
          <a:xfrm>
            <a:off x="6803280" y="242316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邊界總長度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5"/>
          <p:cNvSpPr/>
          <p:nvPr/>
        </p:nvSpPr>
        <p:spPr>
          <a:xfrm>
            <a:off x="6830640" y="3044880"/>
            <a:ext cx="41144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3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每次變成 </a:t>
            </a:r>
            <a:r>
              <a:rPr b="0" lang="en-US" sz="23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1.5 </a:t>
            </a:r>
            <a:r>
              <a:rPr b="0" lang="zh-CN" sz="23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倍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6"/>
          <p:cNvSpPr/>
          <p:nvPr/>
        </p:nvSpPr>
        <p:spPr>
          <a:xfrm>
            <a:off x="7854840" y="3813120"/>
            <a:ext cx="182844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9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↗</a:t>
            </a:r>
            <a:endParaRPr b="0" lang="en-US" sz="4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7"/>
          <p:cNvSpPr/>
          <p:nvPr/>
        </p:nvSpPr>
        <p:spPr>
          <a:xfrm>
            <a:off x="6949440" y="4809600"/>
            <a:ext cx="37486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趨近 ∞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0"/>
          <p:cNvSpPr/>
          <p:nvPr/>
        </p:nvSpPr>
        <p:spPr>
          <a:xfrm>
            <a:off x="567000" y="347400"/>
            <a:ext cx="529920" cy="347040"/>
          </a:xfrm>
          <a:prstGeom prst="roundRect">
            <a:avLst>
              <a:gd name="adj" fmla="val 42105"/>
            </a:avLst>
          </a:prstGeom>
          <a:solidFill>
            <a:srgbClr val="747474"/>
          </a:solidFill>
          <a:ln w="1270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75" name="Text 1"/>
          <p:cNvSpPr/>
          <p:nvPr/>
        </p:nvSpPr>
        <p:spPr>
          <a:xfrm>
            <a:off x="567000" y="356760"/>
            <a:ext cx="529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11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2"/>
          <p:cNvSpPr/>
          <p:nvPr/>
        </p:nvSpPr>
        <p:spPr>
          <a:xfrm>
            <a:off x="1234440" y="3474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O</a:t>
            </a:r>
            <a:r>
              <a:rPr b="1" lang="zh-CN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｜重組舊知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3"/>
          <p:cNvSpPr/>
          <p:nvPr/>
        </p:nvSpPr>
        <p:spPr>
          <a:xfrm>
            <a:off x="676800" y="932760"/>
            <a:ext cx="10926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維度 </a:t>
            </a:r>
            <a:r>
              <a:rPr b="1" lang="en-US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1</a:t>
            </a:r>
            <a:r>
              <a:rPr b="1" lang="zh-CN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、</a:t>
            </a:r>
            <a:r>
              <a:rPr b="1" lang="en-US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2</a:t>
            </a:r>
            <a:r>
              <a:rPr b="1" lang="zh-CN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、</a:t>
            </a:r>
            <a:r>
              <a:rPr b="1" lang="en-US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3</a:t>
            </a:r>
            <a:r>
              <a:rPr b="1" lang="zh-CN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，可以用縮放來重新理解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4"/>
          <p:cNvSpPr/>
          <p:nvPr/>
        </p:nvSpPr>
        <p:spPr>
          <a:xfrm>
            <a:off x="667440" y="1746360"/>
            <a:ext cx="10881360" cy="360"/>
          </a:xfrm>
          <a:prstGeom prst="line">
            <a:avLst/>
          </a:prstGeom>
          <a:ln w="15875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79" name="Shape 5"/>
          <p:cNvSpPr/>
          <p:nvPr/>
        </p:nvSpPr>
        <p:spPr>
          <a:xfrm>
            <a:off x="685800" y="6053040"/>
            <a:ext cx="10817280" cy="360"/>
          </a:xfrm>
          <a:prstGeom prst="line">
            <a:avLst/>
          </a:prstGeom>
          <a:ln w="15240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80" name="Shape 6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81" name="Text 7"/>
          <p:cNvSpPr/>
          <p:nvPr/>
        </p:nvSpPr>
        <p:spPr>
          <a:xfrm>
            <a:off x="1243440" y="6181200"/>
            <a:ext cx="10240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縮小一半後，拼回原圖需要 </a:t>
            </a:r>
            <a:r>
              <a:rPr b="1" lang="en-US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2</a:t>
            </a:r>
            <a:r>
              <a:rPr b="1" lang="zh-CN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、</a:t>
            </a:r>
            <a:r>
              <a:rPr b="1" lang="en-US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4</a:t>
            </a:r>
            <a:r>
              <a:rPr b="1" lang="zh-CN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、</a:t>
            </a:r>
            <a:r>
              <a:rPr b="1" lang="en-US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8 </a:t>
            </a:r>
            <a:r>
              <a:rPr b="1" lang="zh-CN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個單元。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8"/>
          <p:cNvSpPr/>
          <p:nvPr/>
        </p:nvSpPr>
        <p:spPr>
          <a:xfrm>
            <a:off x="1261800" y="3611880"/>
            <a:ext cx="2487240" cy="360"/>
          </a:xfrm>
          <a:prstGeom prst="line">
            <a:avLst/>
          </a:prstGeom>
          <a:ln w="101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83" name="Shape 9"/>
          <p:cNvSpPr/>
          <p:nvPr/>
        </p:nvSpPr>
        <p:spPr>
          <a:xfrm>
            <a:off x="2391120" y="3506760"/>
            <a:ext cx="209880" cy="209880"/>
          </a:xfrm>
          <a:prstGeom prst="ellipse">
            <a:avLst/>
          </a:prstGeom>
          <a:solidFill>
            <a:srgbClr val="d35230"/>
          </a:solidFill>
          <a:ln w="1270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84" name="Text 10"/>
          <p:cNvSpPr/>
          <p:nvPr/>
        </p:nvSpPr>
        <p:spPr>
          <a:xfrm>
            <a:off x="1261800" y="2350080"/>
            <a:ext cx="2514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線段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1"/>
          <p:cNvSpPr/>
          <p:nvPr/>
        </p:nvSpPr>
        <p:spPr>
          <a:xfrm>
            <a:off x="1143000" y="455364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2 </a:t>
            </a:r>
            <a:r>
              <a:rPr b="1" lang="zh-CN" sz="24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個小線段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2"/>
          <p:cNvSpPr/>
          <p:nvPr/>
        </p:nvSpPr>
        <p:spPr>
          <a:xfrm>
            <a:off x="1143000" y="50749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1 </a:t>
            </a:r>
            <a:r>
              <a:rPr b="0" lang="zh-CN" sz="20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維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3"/>
          <p:cNvSpPr/>
          <p:nvPr/>
        </p:nvSpPr>
        <p:spPr>
          <a:xfrm>
            <a:off x="5093280" y="2926080"/>
            <a:ext cx="639720" cy="6397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88" name="Shape 14"/>
          <p:cNvSpPr/>
          <p:nvPr/>
        </p:nvSpPr>
        <p:spPr>
          <a:xfrm>
            <a:off x="5733360" y="2926080"/>
            <a:ext cx="639720" cy="639720"/>
          </a:xfrm>
          <a:prstGeom prst="rect">
            <a:avLst/>
          </a:prstGeom>
          <a:solidFill>
            <a:srgbClr val="747474"/>
          </a:solidFill>
          <a:ln w="1270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89" name="Shape 15"/>
          <p:cNvSpPr/>
          <p:nvPr/>
        </p:nvSpPr>
        <p:spPr>
          <a:xfrm>
            <a:off x="5093280" y="3566160"/>
            <a:ext cx="639720" cy="639720"/>
          </a:xfrm>
          <a:prstGeom prst="rect">
            <a:avLst/>
          </a:prstGeom>
          <a:solidFill>
            <a:srgbClr val="747474"/>
          </a:solidFill>
          <a:ln w="1270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90" name="Shape 16"/>
          <p:cNvSpPr/>
          <p:nvPr/>
        </p:nvSpPr>
        <p:spPr>
          <a:xfrm>
            <a:off x="5733360" y="3566160"/>
            <a:ext cx="639720" cy="6397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91" name="Text 17"/>
          <p:cNvSpPr/>
          <p:nvPr/>
        </p:nvSpPr>
        <p:spPr>
          <a:xfrm>
            <a:off x="4544640" y="2350080"/>
            <a:ext cx="2486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正方形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8"/>
          <p:cNvSpPr/>
          <p:nvPr/>
        </p:nvSpPr>
        <p:spPr>
          <a:xfrm>
            <a:off x="4572000" y="455364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4 </a:t>
            </a:r>
            <a:r>
              <a:rPr b="1" lang="zh-CN" sz="24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個小正方形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9"/>
          <p:cNvSpPr/>
          <p:nvPr/>
        </p:nvSpPr>
        <p:spPr>
          <a:xfrm>
            <a:off x="4572000" y="50749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2 </a:t>
            </a:r>
            <a:r>
              <a:rPr b="0" lang="zh-CN" sz="20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維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20"/>
          <p:cNvSpPr/>
          <p:nvPr/>
        </p:nvSpPr>
        <p:spPr>
          <a:xfrm>
            <a:off x="9464040" y="2926080"/>
            <a:ext cx="1581480" cy="1481040"/>
          </a:xfrm>
          <a:prstGeom prst="cube">
            <a:avLst>
              <a:gd name="adj" fmla="val 25000"/>
            </a:avLst>
          </a:prstGeom>
          <a:solidFill>
            <a:srgbClr val="414141"/>
          </a:solidFill>
          <a:ln w="2032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95" name="Text 21"/>
          <p:cNvSpPr/>
          <p:nvPr/>
        </p:nvSpPr>
        <p:spPr>
          <a:xfrm>
            <a:off x="8229600" y="2350080"/>
            <a:ext cx="2880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正方體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22"/>
          <p:cNvSpPr/>
          <p:nvPr/>
        </p:nvSpPr>
        <p:spPr>
          <a:xfrm>
            <a:off x="8247960" y="455364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8 </a:t>
            </a:r>
            <a:r>
              <a:rPr b="1" lang="zh-CN" sz="24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個小正方體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23"/>
          <p:cNvSpPr/>
          <p:nvPr/>
        </p:nvSpPr>
        <p:spPr>
          <a:xfrm>
            <a:off x="8247960" y="50749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3 </a:t>
            </a:r>
            <a:r>
              <a:rPr b="0" lang="zh-CN" sz="20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維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Shape 0"/>
          <p:cNvSpPr/>
          <p:nvPr/>
        </p:nvSpPr>
        <p:spPr>
          <a:xfrm>
            <a:off x="567000" y="347400"/>
            <a:ext cx="529920" cy="347040"/>
          </a:xfrm>
          <a:prstGeom prst="roundRect">
            <a:avLst>
              <a:gd name="adj" fmla="val 42105"/>
            </a:avLst>
          </a:prstGeom>
          <a:solidFill>
            <a:srgbClr val="747474"/>
          </a:solidFill>
          <a:ln w="1270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399" name="Text 1"/>
          <p:cNvSpPr/>
          <p:nvPr/>
        </p:nvSpPr>
        <p:spPr>
          <a:xfrm>
            <a:off x="567000" y="356760"/>
            <a:ext cx="529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12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2"/>
          <p:cNvSpPr/>
          <p:nvPr/>
        </p:nvSpPr>
        <p:spPr>
          <a:xfrm>
            <a:off x="1234440" y="3474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I</a:t>
            </a:r>
            <a:r>
              <a:rPr b="1" lang="zh-CN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｜連結數學結構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3"/>
          <p:cNvSpPr/>
          <p:nvPr/>
        </p:nvSpPr>
        <p:spPr>
          <a:xfrm>
            <a:off x="676800" y="932760"/>
            <a:ext cx="10926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原來，「維度」也可以從縮放規律算出來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4"/>
          <p:cNvSpPr/>
          <p:nvPr/>
        </p:nvSpPr>
        <p:spPr>
          <a:xfrm>
            <a:off x="667440" y="1746360"/>
            <a:ext cx="10881360" cy="360"/>
          </a:xfrm>
          <a:prstGeom prst="line">
            <a:avLst/>
          </a:prstGeom>
          <a:ln w="15875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03" name="Shape 5"/>
          <p:cNvSpPr/>
          <p:nvPr/>
        </p:nvSpPr>
        <p:spPr>
          <a:xfrm>
            <a:off x="685800" y="6053040"/>
            <a:ext cx="10817280" cy="360"/>
          </a:xfrm>
          <a:prstGeom prst="line">
            <a:avLst/>
          </a:prstGeom>
          <a:ln w="15240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04" name="Shape 6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05" name="Text 7"/>
          <p:cNvSpPr/>
          <p:nvPr/>
        </p:nvSpPr>
        <p:spPr>
          <a:xfrm>
            <a:off x="1243440" y="6181200"/>
            <a:ext cx="10240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邊長縮成一半時，可由相似部分的份數求出維度。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8"/>
          <p:cNvSpPr/>
          <p:nvPr/>
        </p:nvSpPr>
        <p:spPr>
          <a:xfrm>
            <a:off x="1143000" y="253296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1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邊長縮成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10"/>
          <p:cNvSpPr/>
          <p:nvPr/>
        </p:nvSpPr>
        <p:spPr>
          <a:xfrm>
            <a:off x="3657600" y="3456360"/>
            <a:ext cx="914400" cy="360"/>
          </a:xfrm>
          <a:prstGeom prst="line">
            <a:avLst/>
          </a:prstGeom>
          <a:ln w="2921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08" name="Shape 11"/>
          <p:cNvSpPr/>
          <p:nvPr/>
        </p:nvSpPr>
        <p:spPr>
          <a:xfrm flipH="1">
            <a:off x="4466160" y="3456360"/>
            <a:ext cx="105840" cy="72000"/>
          </a:xfrm>
          <a:prstGeom prst="line">
            <a:avLst/>
          </a:prstGeom>
          <a:ln w="2921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000" bIns="27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09" name="Shape 12"/>
          <p:cNvSpPr/>
          <p:nvPr/>
        </p:nvSpPr>
        <p:spPr>
          <a:xfrm flipH="1" flipV="1">
            <a:off x="4466160" y="3384000"/>
            <a:ext cx="105840" cy="72360"/>
          </a:xfrm>
          <a:prstGeom prst="line">
            <a:avLst/>
          </a:prstGeom>
          <a:ln w="2921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360" bIns="2736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10" name="Text 13"/>
          <p:cNvSpPr/>
          <p:nvPr/>
        </p:nvSpPr>
        <p:spPr>
          <a:xfrm>
            <a:off x="4928760" y="253296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1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需要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14"/>
          <p:cNvSpPr/>
          <p:nvPr/>
        </p:nvSpPr>
        <p:spPr>
          <a:xfrm>
            <a:off x="4928760" y="3072240"/>
            <a:ext cx="237708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N </a:t>
            </a:r>
            <a:r>
              <a:rPr b="1" lang="zh-CN" sz="44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個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15"/>
          <p:cNvSpPr/>
          <p:nvPr/>
        </p:nvSpPr>
        <p:spPr>
          <a:xfrm>
            <a:off x="7351560" y="3456360"/>
            <a:ext cx="951120" cy="360"/>
          </a:xfrm>
          <a:prstGeom prst="line">
            <a:avLst/>
          </a:prstGeom>
          <a:ln w="2921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13" name="Shape 16"/>
          <p:cNvSpPr/>
          <p:nvPr/>
        </p:nvSpPr>
        <p:spPr>
          <a:xfrm flipH="1">
            <a:off x="8196840" y="3456360"/>
            <a:ext cx="105840" cy="72000"/>
          </a:xfrm>
          <a:prstGeom prst="line">
            <a:avLst/>
          </a:prstGeom>
          <a:ln w="2921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000" bIns="27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14" name="Shape 17"/>
          <p:cNvSpPr/>
          <p:nvPr/>
        </p:nvSpPr>
        <p:spPr>
          <a:xfrm flipH="1" flipV="1">
            <a:off x="8196840" y="3384000"/>
            <a:ext cx="105840" cy="72360"/>
          </a:xfrm>
          <a:prstGeom prst="line">
            <a:avLst/>
          </a:prstGeom>
          <a:ln w="2921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360" bIns="2736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15" name="Text 18"/>
          <p:cNvSpPr/>
          <p:nvPr/>
        </p:nvSpPr>
        <p:spPr>
          <a:xfrm>
            <a:off x="8641080" y="2532960"/>
            <a:ext cx="2340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1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維度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9"/>
          <p:cNvSpPr/>
          <p:nvPr/>
        </p:nvSpPr>
        <p:spPr>
          <a:xfrm>
            <a:off x="8641080" y="3072240"/>
            <a:ext cx="237708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20"/>
          <p:cNvSpPr/>
          <p:nvPr/>
        </p:nvSpPr>
        <p:spPr>
          <a:xfrm>
            <a:off x="1271160" y="4763880"/>
            <a:ext cx="9655560" cy="676440"/>
          </a:xfrm>
          <a:prstGeom prst="roundRect">
            <a:avLst>
              <a:gd name="adj" fmla="val 16216"/>
            </a:avLst>
          </a:prstGeom>
          <a:solidFill>
            <a:srgbClr val="fbeae4"/>
          </a:solidFill>
          <a:ln w="12700">
            <a:solidFill>
              <a:srgbClr val="fbea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18" name="TextBox 22"/>
          <p:cNvSpPr/>
          <p:nvPr/>
        </p:nvSpPr>
        <p:spPr>
          <a:xfrm>
            <a:off x="2148840" y="3141000"/>
            <a:ext cx="32904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650" strike="noStrike" u="none">
                <a:solidFill>
                  <a:srgbClr val="222222"/>
                </a:solidFill>
                <a:effectLst/>
                <a:uFillTx/>
                <a:latin typeface="Cambria Math"/>
              </a:rPr>
              <a:t>1</a:t>
            </a:r>
            <a:endParaRPr b="0" lang="en-US" sz="2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9" name="Connector 23"/>
          <p:cNvCxnSpPr/>
          <p:nvPr/>
        </p:nvCxnSpPr>
        <p:spPr>
          <a:xfrm>
            <a:off x="2194200" y="3422880"/>
            <a:ext cx="238320" cy="360"/>
          </a:xfrm>
          <a:prstGeom prst="straightConnector1">
            <a:avLst/>
          </a:prstGeom>
          <a:ln w="13970">
            <a:solidFill>
              <a:srgbClr val="222222"/>
            </a:solidFill>
          </a:ln>
        </p:spPr>
      </p:cxnSp>
      <p:sp>
        <p:nvSpPr>
          <p:cNvPr id="420" name="TextBox 24"/>
          <p:cNvSpPr/>
          <p:nvPr/>
        </p:nvSpPr>
        <p:spPr>
          <a:xfrm>
            <a:off x="2148840" y="3463560"/>
            <a:ext cx="32904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650" strike="noStrike" u="none">
                <a:solidFill>
                  <a:srgbClr val="222222"/>
                </a:solidFill>
                <a:effectLst/>
                <a:uFillTx/>
                <a:latin typeface="Cambria Math"/>
              </a:rPr>
              <a:t>2</a:t>
            </a:r>
            <a:endParaRPr b="0" lang="en-US" sz="2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Box 25"/>
          <p:cNvSpPr/>
          <p:nvPr/>
        </p:nvSpPr>
        <p:spPr>
          <a:xfrm>
            <a:off x="4700520" y="4846320"/>
            <a:ext cx="2386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3000" strike="noStrike" u="none">
                <a:solidFill>
                  <a:srgbClr val="222222"/>
                </a:solidFill>
                <a:effectLst/>
                <a:uFillTx/>
                <a:latin typeface="Cambria Math"/>
              </a:rPr>
              <a:t>N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Box 26"/>
          <p:cNvSpPr/>
          <p:nvPr/>
        </p:nvSpPr>
        <p:spPr>
          <a:xfrm>
            <a:off x="5000760" y="4846320"/>
            <a:ext cx="1746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3000" strike="noStrike" u="none">
                <a:solidFill>
                  <a:srgbClr val="222222"/>
                </a:solidFill>
                <a:effectLst/>
                <a:uFillTx/>
                <a:latin typeface="Cambria Math"/>
              </a:rPr>
              <a:t>=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27"/>
          <p:cNvSpPr/>
          <p:nvPr/>
        </p:nvSpPr>
        <p:spPr>
          <a:xfrm>
            <a:off x="5236920" y="4873680"/>
            <a:ext cx="23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3000" strike="noStrike" u="none">
                <a:solidFill>
                  <a:srgbClr val="222222"/>
                </a:solidFill>
                <a:effectLst/>
                <a:uFillTx/>
                <a:latin typeface="Cambria Math"/>
              </a:rPr>
              <a:t>2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28"/>
          <p:cNvSpPr/>
          <p:nvPr/>
        </p:nvSpPr>
        <p:spPr>
          <a:xfrm>
            <a:off x="5466960" y="4732200"/>
            <a:ext cx="2332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222222"/>
                </a:solidFill>
                <a:effectLst/>
                <a:uFillTx/>
                <a:latin typeface="Cambria Math"/>
              </a:rPr>
              <a:t>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Box 29"/>
          <p:cNvSpPr/>
          <p:nvPr/>
        </p:nvSpPr>
        <p:spPr>
          <a:xfrm>
            <a:off x="5716080" y="4846320"/>
            <a:ext cx="2386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3000" strike="noStrike" u="none">
                <a:solidFill>
                  <a:srgbClr val="222222"/>
                </a:solidFill>
                <a:effectLst/>
                <a:uFillTx/>
                <a:latin typeface="Cambria Math"/>
              </a:rPr>
              <a:t>⇒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30"/>
          <p:cNvSpPr/>
          <p:nvPr/>
        </p:nvSpPr>
        <p:spPr>
          <a:xfrm>
            <a:off x="6016320" y="4846320"/>
            <a:ext cx="2386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3000" strike="noStrike" u="none">
                <a:solidFill>
                  <a:srgbClr val="222222"/>
                </a:solidFill>
                <a:effectLst/>
                <a:uFillTx/>
                <a:latin typeface="Cambria Math"/>
              </a:rPr>
              <a:t>D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31"/>
          <p:cNvSpPr/>
          <p:nvPr/>
        </p:nvSpPr>
        <p:spPr>
          <a:xfrm>
            <a:off x="6316200" y="4846320"/>
            <a:ext cx="1746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3000" strike="noStrike" u="none">
                <a:solidFill>
                  <a:srgbClr val="222222"/>
                </a:solidFill>
                <a:effectLst/>
                <a:uFillTx/>
                <a:latin typeface="Cambria Math"/>
              </a:rPr>
              <a:t>=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32"/>
          <p:cNvSpPr/>
          <p:nvPr/>
        </p:nvSpPr>
        <p:spPr>
          <a:xfrm>
            <a:off x="6552720" y="4803840"/>
            <a:ext cx="79812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040" strike="noStrike" u="none">
                <a:solidFill>
                  <a:srgbClr val="222222"/>
                </a:solidFill>
                <a:effectLst/>
                <a:uFillTx/>
                <a:latin typeface="Cambria Math"/>
              </a:rPr>
              <a:t>log N</a:t>
            </a:r>
            <a:endParaRPr b="0" lang="en-US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9" name="Connector 33"/>
          <p:cNvCxnSpPr/>
          <p:nvPr/>
        </p:nvCxnSpPr>
        <p:spPr>
          <a:xfrm>
            <a:off x="6598080" y="5082840"/>
            <a:ext cx="707400" cy="360"/>
          </a:xfrm>
          <a:prstGeom prst="straightConnector1">
            <a:avLst/>
          </a:prstGeom>
          <a:ln w="13970">
            <a:solidFill>
              <a:srgbClr val="222222"/>
            </a:solidFill>
          </a:ln>
        </p:spPr>
      </p:cxnSp>
      <p:sp>
        <p:nvSpPr>
          <p:cNvPr id="430" name="TextBox 34"/>
          <p:cNvSpPr/>
          <p:nvPr/>
        </p:nvSpPr>
        <p:spPr>
          <a:xfrm>
            <a:off x="6552720" y="5122800"/>
            <a:ext cx="79812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040" strike="noStrike" u="none">
                <a:solidFill>
                  <a:srgbClr val="222222"/>
                </a:solidFill>
                <a:effectLst/>
                <a:uFillTx/>
                <a:latin typeface="Cambria Math"/>
              </a:rPr>
              <a:t>log 2</a:t>
            </a:r>
            <a:endParaRPr b="0" lang="en-US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Shape 0"/>
          <p:cNvSpPr/>
          <p:nvPr/>
        </p:nvSpPr>
        <p:spPr>
          <a:xfrm>
            <a:off x="567000" y="347400"/>
            <a:ext cx="529920" cy="347040"/>
          </a:xfrm>
          <a:prstGeom prst="roundRect">
            <a:avLst>
              <a:gd name="adj" fmla="val 42105"/>
            </a:avLst>
          </a:prstGeom>
          <a:solidFill>
            <a:srgbClr val="747474"/>
          </a:solidFill>
          <a:ln w="1270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32" name="Text 1"/>
          <p:cNvSpPr/>
          <p:nvPr/>
        </p:nvSpPr>
        <p:spPr>
          <a:xfrm>
            <a:off x="567000" y="356760"/>
            <a:ext cx="529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13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2"/>
          <p:cNvSpPr/>
          <p:nvPr/>
        </p:nvSpPr>
        <p:spPr>
          <a:xfrm>
            <a:off x="1234440" y="3474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I</a:t>
            </a:r>
            <a:r>
              <a:rPr b="1" lang="zh-CN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｜核心概念建構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3"/>
          <p:cNvSpPr/>
          <p:nvPr/>
        </p:nvSpPr>
        <p:spPr>
          <a:xfrm>
            <a:off x="676800" y="932760"/>
            <a:ext cx="10926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謝爾賓斯基三角形：縮小一半，得到 </a:t>
            </a:r>
            <a:r>
              <a:rPr b="1" lang="en-US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3 </a:t>
            </a:r>
            <a:r>
              <a:rPr b="1" lang="zh-CN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個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4"/>
          <p:cNvSpPr/>
          <p:nvPr/>
        </p:nvSpPr>
        <p:spPr>
          <a:xfrm>
            <a:off x="667440" y="1746360"/>
            <a:ext cx="10881360" cy="360"/>
          </a:xfrm>
          <a:prstGeom prst="line">
            <a:avLst/>
          </a:prstGeom>
          <a:ln w="15875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36" name="Shape 5"/>
          <p:cNvSpPr/>
          <p:nvPr/>
        </p:nvSpPr>
        <p:spPr>
          <a:xfrm>
            <a:off x="685800" y="6053040"/>
            <a:ext cx="10817280" cy="360"/>
          </a:xfrm>
          <a:prstGeom prst="line">
            <a:avLst/>
          </a:prstGeom>
          <a:ln w="15240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37" name="Shape 6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38" name="Text 7"/>
          <p:cNvSpPr/>
          <p:nvPr/>
        </p:nvSpPr>
        <p:spPr>
          <a:xfrm>
            <a:off x="1243440" y="6181200"/>
            <a:ext cx="10240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1.585 </a:t>
            </a:r>
            <a:r>
              <a:rPr b="1" lang="zh-CN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不是任意數字，而是縮放關係的計算結果。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8"/>
          <p:cNvSpPr/>
          <p:nvPr/>
        </p:nvSpPr>
        <p:spPr>
          <a:xfrm>
            <a:off x="2728800" y="23500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40" name="Shape 9"/>
          <p:cNvSpPr/>
          <p:nvPr/>
        </p:nvSpPr>
        <p:spPr>
          <a:xfrm>
            <a:off x="2604960" y="256464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41" name="Shape 10"/>
          <p:cNvSpPr/>
          <p:nvPr/>
        </p:nvSpPr>
        <p:spPr>
          <a:xfrm>
            <a:off x="2853000" y="256464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42" name="Shape 11"/>
          <p:cNvSpPr/>
          <p:nvPr/>
        </p:nvSpPr>
        <p:spPr>
          <a:xfrm>
            <a:off x="2480760" y="277956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43" name="Shape 12"/>
          <p:cNvSpPr/>
          <p:nvPr/>
        </p:nvSpPr>
        <p:spPr>
          <a:xfrm>
            <a:off x="2356920" y="29944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44" name="Shape 13"/>
          <p:cNvSpPr/>
          <p:nvPr/>
        </p:nvSpPr>
        <p:spPr>
          <a:xfrm>
            <a:off x="2604960" y="29944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45" name="Shape 14"/>
          <p:cNvSpPr/>
          <p:nvPr/>
        </p:nvSpPr>
        <p:spPr>
          <a:xfrm>
            <a:off x="2976840" y="277956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46" name="Shape 15"/>
          <p:cNvSpPr/>
          <p:nvPr/>
        </p:nvSpPr>
        <p:spPr>
          <a:xfrm>
            <a:off x="2853000" y="29944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47" name="Shape 16"/>
          <p:cNvSpPr/>
          <p:nvPr/>
        </p:nvSpPr>
        <p:spPr>
          <a:xfrm>
            <a:off x="3101040" y="29944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48" name="Shape 17"/>
          <p:cNvSpPr/>
          <p:nvPr/>
        </p:nvSpPr>
        <p:spPr>
          <a:xfrm>
            <a:off x="2232720" y="320904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49" name="Shape 18"/>
          <p:cNvSpPr/>
          <p:nvPr/>
        </p:nvSpPr>
        <p:spPr>
          <a:xfrm>
            <a:off x="2108880" y="342396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50" name="Shape 19"/>
          <p:cNvSpPr/>
          <p:nvPr/>
        </p:nvSpPr>
        <p:spPr>
          <a:xfrm>
            <a:off x="2356920" y="342396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51" name="Shape 20"/>
          <p:cNvSpPr/>
          <p:nvPr/>
        </p:nvSpPr>
        <p:spPr>
          <a:xfrm>
            <a:off x="1984680" y="36388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52" name="Shape 21"/>
          <p:cNvSpPr/>
          <p:nvPr/>
        </p:nvSpPr>
        <p:spPr>
          <a:xfrm>
            <a:off x="1860840" y="385344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53" name="Shape 22"/>
          <p:cNvSpPr/>
          <p:nvPr/>
        </p:nvSpPr>
        <p:spPr>
          <a:xfrm>
            <a:off x="2108880" y="385344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54" name="Shape 23"/>
          <p:cNvSpPr/>
          <p:nvPr/>
        </p:nvSpPr>
        <p:spPr>
          <a:xfrm>
            <a:off x="2480760" y="36388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55" name="Shape 24"/>
          <p:cNvSpPr/>
          <p:nvPr/>
        </p:nvSpPr>
        <p:spPr>
          <a:xfrm>
            <a:off x="2356920" y="385344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56" name="Shape 25"/>
          <p:cNvSpPr/>
          <p:nvPr/>
        </p:nvSpPr>
        <p:spPr>
          <a:xfrm>
            <a:off x="2604960" y="385344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57" name="Shape 26"/>
          <p:cNvSpPr/>
          <p:nvPr/>
        </p:nvSpPr>
        <p:spPr>
          <a:xfrm>
            <a:off x="3224880" y="320904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58" name="Shape 27"/>
          <p:cNvSpPr/>
          <p:nvPr/>
        </p:nvSpPr>
        <p:spPr>
          <a:xfrm>
            <a:off x="3101040" y="342396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59" name="Shape 28"/>
          <p:cNvSpPr/>
          <p:nvPr/>
        </p:nvSpPr>
        <p:spPr>
          <a:xfrm>
            <a:off x="3349080" y="342396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60" name="Shape 29"/>
          <p:cNvSpPr/>
          <p:nvPr/>
        </p:nvSpPr>
        <p:spPr>
          <a:xfrm>
            <a:off x="2976840" y="36388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61" name="Shape 30"/>
          <p:cNvSpPr/>
          <p:nvPr/>
        </p:nvSpPr>
        <p:spPr>
          <a:xfrm>
            <a:off x="2853000" y="385344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62" name="Shape 31"/>
          <p:cNvSpPr/>
          <p:nvPr/>
        </p:nvSpPr>
        <p:spPr>
          <a:xfrm>
            <a:off x="3101040" y="385344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63" name="Shape 32"/>
          <p:cNvSpPr/>
          <p:nvPr/>
        </p:nvSpPr>
        <p:spPr>
          <a:xfrm>
            <a:off x="3472920" y="36388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64" name="Shape 33"/>
          <p:cNvSpPr/>
          <p:nvPr/>
        </p:nvSpPr>
        <p:spPr>
          <a:xfrm>
            <a:off x="3349080" y="385344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65" name="Shape 34"/>
          <p:cNvSpPr/>
          <p:nvPr/>
        </p:nvSpPr>
        <p:spPr>
          <a:xfrm>
            <a:off x="3597120" y="385344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66" name="Shape 35"/>
          <p:cNvSpPr/>
          <p:nvPr/>
        </p:nvSpPr>
        <p:spPr>
          <a:xfrm>
            <a:off x="1736640" y="406836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67" name="Shape 36"/>
          <p:cNvSpPr/>
          <p:nvPr/>
        </p:nvSpPr>
        <p:spPr>
          <a:xfrm>
            <a:off x="1612800" y="42832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68" name="Shape 37"/>
          <p:cNvSpPr/>
          <p:nvPr/>
        </p:nvSpPr>
        <p:spPr>
          <a:xfrm>
            <a:off x="1860840" y="42832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69" name="Shape 38"/>
          <p:cNvSpPr/>
          <p:nvPr/>
        </p:nvSpPr>
        <p:spPr>
          <a:xfrm>
            <a:off x="1488600" y="449784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70" name="Shape 39"/>
          <p:cNvSpPr/>
          <p:nvPr/>
        </p:nvSpPr>
        <p:spPr>
          <a:xfrm>
            <a:off x="1364760" y="471276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71" name="Shape 40"/>
          <p:cNvSpPr/>
          <p:nvPr/>
        </p:nvSpPr>
        <p:spPr>
          <a:xfrm>
            <a:off x="1612800" y="471276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72" name="Shape 41"/>
          <p:cNvSpPr/>
          <p:nvPr/>
        </p:nvSpPr>
        <p:spPr>
          <a:xfrm>
            <a:off x="1984680" y="449784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73" name="Shape 42"/>
          <p:cNvSpPr/>
          <p:nvPr/>
        </p:nvSpPr>
        <p:spPr>
          <a:xfrm>
            <a:off x="1860840" y="471276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74" name="Shape 43"/>
          <p:cNvSpPr/>
          <p:nvPr/>
        </p:nvSpPr>
        <p:spPr>
          <a:xfrm>
            <a:off x="2108880" y="471276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75" name="Shape 44"/>
          <p:cNvSpPr/>
          <p:nvPr/>
        </p:nvSpPr>
        <p:spPr>
          <a:xfrm>
            <a:off x="1240560" y="49276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76" name="Shape 45"/>
          <p:cNvSpPr/>
          <p:nvPr/>
        </p:nvSpPr>
        <p:spPr>
          <a:xfrm>
            <a:off x="1116720" y="514260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77" name="Shape 46"/>
          <p:cNvSpPr/>
          <p:nvPr/>
        </p:nvSpPr>
        <p:spPr>
          <a:xfrm>
            <a:off x="1364760" y="514260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78" name="Shape 47"/>
          <p:cNvSpPr/>
          <p:nvPr/>
        </p:nvSpPr>
        <p:spPr>
          <a:xfrm>
            <a:off x="992520" y="535716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79" name="Shape 48"/>
          <p:cNvSpPr/>
          <p:nvPr/>
        </p:nvSpPr>
        <p:spPr>
          <a:xfrm>
            <a:off x="868680" y="55720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80" name="Shape 49"/>
          <p:cNvSpPr/>
          <p:nvPr/>
        </p:nvSpPr>
        <p:spPr>
          <a:xfrm>
            <a:off x="1116720" y="55720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81" name="Shape 50"/>
          <p:cNvSpPr/>
          <p:nvPr/>
        </p:nvSpPr>
        <p:spPr>
          <a:xfrm>
            <a:off x="1488600" y="535716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82" name="Shape 51"/>
          <p:cNvSpPr/>
          <p:nvPr/>
        </p:nvSpPr>
        <p:spPr>
          <a:xfrm>
            <a:off x="1364760" y="55720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83" name="Shape 52"/>
          <p:cNvSpPr/>
          <p:nvPr/>
        </p:nvSpPr>
        <p:spPr>
          <a:xfrm>
            <a:off x="1612800" y="55720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84" name="Shape 53"/>
          <p:cNvSpPr/>
          <p:nvPr/>
        </p:nvSpPr>
        <p:spPr>
          <a:xfrm>
            <a:off x="2232720" y="49276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85" name="Shape 54"/>
          <p:cNvSpPr/>
          <p:nvPr/>
        </p:nvSpPr>
        <p:spPr>
          <a:xfrm>
            <a:off x="2108880" y="514260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86" name="Shape 55"/>
          <p:cNvSpPr/>
          <p:nvPr/>
        </p:nvSpPr>
        <p:spPr>
          <a:xfrm>
            <a:off x="2356920" y="514260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87" name="Shape 56"/>
          <p:cNvSpPr/>
          <p:nvPr/>
        </p:nvSpPr>
        <p:spPr>
          <a:xfrm>
            <a:off x="1984680" y="535716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88" name="Shape 57"/>
          <p:cNvSpPr/>
          <p:nvPr/>
        </p:nvSpPr>
        <p:spPr>
          <a:xfrm>
            <a:off x="1860840" y="55720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89" name="Shape 58"/>
          <p:cNvSpPr/>
          <p:nvPr/>
        </p:nvSpPr>
        <p:spPr>
          <a:xfrm>
            <a:off x="2108880" y="55720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90" name="Shape 59"/>
          <p:cNvSpPr/>
          <p:nvPr/>
        </p:nvSpPr>
        <p:spPr>
          <a:xfrm>
            <a:off x="2480760" y="535716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91" name="Shape 60"/>
          <p:cNvSpPr/>
          <p:nvPr/>
        </p:nvSpPr>
        <p:spPr>
          <a:xfrm>
            <a:off x="2356920" y="55720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92" name="Shape 61"/>
          <p:cNvSpPr/>
          <p:nvPr/>
        </p:nvSpPr>
        <p:spPr>
          <a:xfrm>
            <a:off x="2604960" y="55720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93" name="Shape 62"/>
          <p:cNvSpPr/>
          <p:nvPr/>
        </p:nvSpPr>
        <p:spPr>
          <a:xfrm>
            <a:off x="3720960" y="406836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94" name="Shape 63"/>
          <p:cNvSpPr/>
          <p:nvPr/>
        </p:nvSpPr>
        <p:spPr>
          <a:xfrm>
            <a:off x="3597120" y="42832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95" name="Shape 64"/>
          <p:cNvSpPr/>
          <p:nvPr/>
        </p:nvSpPr>
        <p:spPr>
          <a:xfrm>
            <a:off x="3845160" y="42832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96" name="Shape 65"/>
          <p:cNvSpPr/>
          <p:nvPr/>
        </p:nvSpPr>
        <p:spPr>
          <a:xfrm>
            <a:off x="3472920" y="449784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97" name="Shape 66"/>
          <p:cNvSpPr/>
          <p:nvPr/>
        </p:nvSpPr>
        <p:spPr>
          <a:xfrm>
            <a:off x="3349080" y="471276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98" name="Shape 67"/>
          <p:cNvSpPr/>
          <p:nvPr/>
        </p:nvSpPr>
        <p:spPr>
          <a:xfrm>
            <a:off x="3597120" y="471276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499" name="Shape 68"/>
          <p:cNvSpPr/>
          <p:nvPr/>
        </p:nvSpPr>
        <p:spPr>
          <a:xfrm>
            <a:off x="3969000" y="449784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00" name="Shape 69"/>
          <p:cNvSpPr/>
          <p:nvPr/>
        </p:nvSpPr>
        <p:spPr>
          <a:xfrm>
            <a:off x="3845160" y="471276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01" name="Shape 70"/>
          <p:cNvSpPr/>
          <p:nvPr/>
        </p:nvSpPr>
        <p:spPr>
          <a:xfrm>
            <a:off x="4093200" y="471276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02" name="Shape 71"/>
          <p:cNvSpPr/>
          <p:nvPr/>
        </p:nvSpPr>
        <p:spPr>
          <a:xfrm>
            <a:off x="3224880" y="49276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03" name="Shape 72"/>
          <p:cNvSpPr/>
          <p:nvPr/>
        </p:nvSpPr>
        <p:spPr>
          <a:xfrm>
            <a:off x="3101040" y="514260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04" name="Shape 73"/>
          <p:cNvSpPr/>
          <p:nvPr/>
        </p:nvSpPr>
        <p:spPr>
          <a:xfrm>
            <a:off x="3349080" y="514260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05" name="Shape 74"/>
          <p:cNvSpPr/>
          <p:nvPr/>
        </p:nvSpPr>
        <p:spPr>
          <a:xfrm>
            <a:off x="2976840" y="535716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06" name="Shape 75"/>
          <p:cNvSpPr/>
          <p:nvPr/>
        </p:nvSpPr>
        <p:spPr>
          <a:xfrm>
            <a:off x="2853000" y="55720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07" name="Shape 76"/>
          <p:cNvSpPr/>
          <p:nvPr/>
        </p:nvSpPr>
        <p:spPr>
          <a:xfrm>
            <a:off x="3101040" y="55720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08" name="Shape 77"/>
          <p:cNvSpPr/>
          <p:nvPr/>
        </p:nvSpPr>
        <p:spPr>
          <a:xfrm>
            <a:off x="3472920" y="535716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09" name="Shape 78"/>
          <p:cNvSpPr/>
          <p:nvPr/>
        </p:nvSpPr>
        <p:spPr>
          <a:xfrm>
            <a:off x="3349080" y="55720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10" name="Shape 79"/>
          <p:cNvSpPr/>
          <p:nvPr/>
        </p:nvSpPr>
        <p:spPr>
          <a:xfrm>
            <a:off x="3597120" y="55720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11" name="Shape 80"/>
          <p:cNvSpPr/>
          <p:nvPr/>
        </p:nvSpPr>
        <p:spPr>
          <a:xfrm>
            <a:off x="4217040" y="49276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12" name="Shape 81"/>
          <p:cNvSpPr/>
          <p:nvPr/>
        </p:nvSpPr>
        <p:spPr>
          <a:xfrm>
            <a:off x="4093200" y="514260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13" name="Shape 82"/>
          <p:cNvSpPr/>
          <p:nvPr/>
        </p:nvSpPr>
        <p:spPr>
          <a:xfrm>
            <a:off x="4341240" y="514260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14" name="Shape 83"/>
          <p:cNvSpPr/>
          <p:nvPr/>
        </p:nvSpPr>
        <p:spPr>
          <a:xfrm>
            <a:off x="3969000" y="535716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15" name="Shape 84"/>
          <p:cNvSpPr/>
          <p:nvPr/>
        </p:nvSpPr>
        <p:spPr>
          <a:xfrm>
            <a:off x="3845160" y="55720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16" name="Shape 85"/>
          <p:cNvSpPr/>
          <p:nvPr/>
        </p:nvSpPr>
        <p:spPr>
          <a:xfrm>
            <a:off x="4093200" y="55720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17" name="Shape 86"/>
          <p:cNvSpPr/>
          <p:nvPr/>
        </p:nvSpPr>
        <p:spPr>
          <a:xfrm>
            <a:off x="4465080" y="535716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18" name="Shape 87"/>
          <p:cNvSpPr/>
          <p:nvPr/>
        </p:nvSpPr>
        <p:spPr>
          <a:xfrm>
            <a:off x="4341240" y="55720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19" name="Shape 88"/>
          <p:cNvSpPr/>
          <p:nvPr/>
        </p:nvSpPr>
        <p:spPr>
          <a:xfrm>
            <a:off x="4589280" y="5572080"/>
            <a:ext cx="247680" cy="21456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20" name="Shape 89"/>
          <p:cNvSpPr/>
          <p:nvPr/>
        </p:nvSpPr>
        <p:spPr>
          <a:xfrm>
            <a:off x="5184360" y="3931920"/>
            <a:ext cx="676800" cy="360"/>
          </a:xfrm>
          <a:prstGeom prst="line">
            <a:avLst/>
          </a:prstGeom>
          <a:ln w="2921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21" name="Shape 90"/>
          <p:cNvSpPr/>
          <p:nvPr/>
        </p:nvSpPr>
        <p:spPr>
          <a:xfrm flipH="1">
            <a:off x="5755320" y="3931920"/>
            <a:ext cx="105840" cy="72000"/>
          </a:xfrm>
          <a:prstGeom prst="line">
            <a:avLst/>
          </a:prstGeom>
          <a:ln w="2921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000" bIns="27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22" name="Shape 91"/>
          <p:cNvSpPr/>
          <p:nvPr/>
        </p:nvSpPr>
        <p:spPr>
          <a:xfrm flipH="1" flipV="1">
            <a:off x="5755320" y="3859560"/>
            <a:ext cx="105840" cy="72360"/>
          </a:xfrm>
          <a:prstGeom prst="line">
            <a:avLst/>
          </a:prstGeom>
          <a:ln w="2921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360" bIns="2736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23" name="Shape 92"/>
          <p:cNvSpPr/>
          <p:nvPr/>
        </p:nvSpPr>
        <p:spPr>
          <a:xfrm>
            <a:off x="6990480" y="224028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24" name="Shape 93"/>
          <p:cNvSpPr/>
          <p:nvPr/>
        </p:nvSpPr>
        <p:spPr>
          <a:xfrm>
            <a:off x="6793920" y="258084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25" name="Shape 94"/>
          <p:cNvSpPr/>
          <p:nvPr/>
        </p:nvSpPr>
        <p:spPr>
          <a:xfrm>
            <a:off x="7187040" y="258084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26" name="Shape 95"/>
          <p:cNvSpPr/>
          <p:nvPr/>
        </p:nvSpPr>
        <p:spPr>
          <a:xfrm>
            <a:off x="6597360" y="292140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27" name="Shape 96"/>
          <p:cNvSpPr/>
          <p:nvPr/>
        </p:nvSpPr>
        <p:spPr>
          <a:xfrm>
            <a:off x="6400800" y="326196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28" name="Shape 97"/>
          <p:cNvSpPr/>
          <p:nvPr/>
        </p:nvSpPr>
        <p:spPr>
          <a:xfrm>
            <a:off x="6793920" y="326196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29" name="Shape 98"/>
          <p:cNvSpPr/>
          <p:nvPr/>
        </p:nvSpPr>
        <p:spPr>
          <a:xfrm>
            <a:off x="7383960" y="292140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30" name="Shape 99"/>
          <p:cNvSpPr/>
          <p:nvPr/>
        </p:nvSpPr>
        <p:spPr>
          <a:xfrm>
            <a:off x="7187040" y="326196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31" name="Shape 100"/>
          <p:cNvSpPr/>
          <p:nvPr/>
        </p:nvSpPr>
        <p:spPr>
          <a:xfrm>
            <a:off x="7580520" y="326196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32" name="Shape 101"/>
          <p:cNvSpPr/>
          <p:nvPr/>
        </p:nvSpPr>
        <p:spPr>
          <a:xfrm>
            <a:off x="6524280" y="365760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33" name="Shape 102"/>
          <p:cNvSpPr/>
          <p:nvPr/>
        </p:nvSpPr>
        <p:spPr>
          <a:xfrm>
            <a:off x="6327720" y="399816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34" name="Shape 103"/>
          <p:cNvSpPr/>
          <p:nvPr/>
        </p:nvSpPr>
        <p:spPr>
          <a:xfrm>
            <a:off x="6720840" y="399816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35" name="Shape 104"/>
          <p:cNvSpPr/>
          <p:nvPr/>
        </p:nvSpPr>
        <p:spPr>
          <a:xfrm>
            <a:off x="6131160" y="433872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36" name="Shape 105"/>
          <p:cNvSpPr/>
          <p:nvPr/>
        </p:nvSpPr>
        <p:spPr>
          <a:xfrm>
            <a:off x="5934600" y="467928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37" name="Shape 106"/>
          <p:cNvSpPr/>
          <p:nvPr/>
        </p:nvSpPr>
        <p:spPr>
          <a:xfrm>
            <a:off x="6327720" y="467928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38" name="Shape 107"/>
          <p:cNvSpPr/>
          <p:nvPr/>
        </p:nvSpPr>
        <p:spPr>
          <a:xfrm>
            <a:off x="6917400" y="433872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39" name="Shape 108"/>
          <p:cNvSpPr/>
          <p:nvPr/>
        </p:nvSpPr>
        <p:spPr>
          <a:xfrm>
            <a:off x="6720840" y="467928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40" name="Shape 109"/>
          <p:cNvSpPr/>
          <p:nvPr/>
        </p:nvSpPr>
        <p:spPr>
          <a:xfrm>
            <a:off x="7113960" y="467928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41" name="Shape 110"/>
          <p:cNvSpPr/>
          <p:nvPr/>
        </p:nvSpPr>
        <p:spPr>
          <a:xfrm>
            <a:off x="8243280" y="365760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42" name="Shape 111"/>
          <p:cNvSpPr/>
          <p:nvPr/>
        </p:nvSpPr>
        <p:spPr>
          <a:xfrm>
            <a:off x="8046720" y="399816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43" name="Shape 112"/>
          <p:cNvSpPr/>
          <p:nvPr/>
        </p:nvSpPr>
        <p:spPr>
          <a:xfrm>
            <a:off x="8439840" y="399816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44" name="Shape 113"/>
          <p:cNvSpPr/>
          <p:nvPr/>
        </p:nvSpPr>
        <p:spPr>
          <a:xfrm>
            <a:off x="7850160" y="433872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45" name="Shape 114"/>
          <p:cNvSpPr/>
          <p:nvPr/>
        </p:nvSpPr>
        <p:spPr>
          <a:xfrm>
            <a:off x="7653600" y="467928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46" name="Shape 115"/>
          <p:cNvSpPr/>
          <p:nvPr/>
        </p:nvSpPr>
        <p:spPr>
          <a:xfrm>
            <a:off x="8046720" y="467928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47" name="Shape 116"/>
          <p:cNvSpPr/>
          <p:nvPr/>
        </p:nvSpPr>
        <p:spPr>
          <a:xfrm>
            <a:off x="8636400" y="433872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48" name="Shape 117"/>
          <p:cNvSpPr/>
          <p:nvPr/>
        </p:nvSpPr>
        <p:spPr>
          <a:xfrm>
            <a:off x="8439840" y="467928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49" name="Shape 118"/>
          <p:cNvSpPr/>
          <p:nvPr/>
        </p:nvSpPr>
        <p:spPr>
          <a:xfrm>
            <a:off x="8832960" y="4679280"/>
            <a:ext cx="392760" cy="3402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50" name="Shape 119"/>
          <p:cNvSpPr/>
          <p:nvPr/>
        </p:nvSpPr>
        <p:spPr>
          <a:xfrm>
            <a:off x="9272160" y="2423160"/>
            <a:ext cx="2486880" cy="2651400"/>
          </a:xfrm>
          <a:prstGeom prst="roundRect">
            <a:avLst>
              <a:gd name="adj" fmla="val 4412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551" name="Text 122"/>
          <p:cNvSpPr/>
          <p:nvPr/>
        </p:nvSpPr>
        <p:spPr>
          <a:xfrm>
            <a:off x="9418320" y="4425840"/>
            <a:ext cx="21484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≈ 1.585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Box 124"/>
          <p:cNvSpPr/>
          <p:nvPr/>
        </p:nvSpPr>
        <p:spPr>
          <a:xfrm>
            <a:off x="10103040" y="2862000"/>
            <a:ext cx="1987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500" strike="noStrike" u="none">
                <a:solidFill>
                  <a:srgbClr val="222222"/>
                </a:solidFill>
                <a:effectLst/>
                <a:uFillTx/>
                <a:latin typeface="Cambria Math"/>
              </a:rPr>
              <a:t>2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Box 125"/>
          <p:cNvSpPr/>
          <p:nvPr/>
        </p:nvSpPr>
        <p:spPr>
          <a:xfrm>
            <a:off x="10292760" y="2720160"/>
            <a:ext cx="21312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500" strike="noStrike" u="none">
                <a:solidFill>
                  <a:srgbClr val="222222"/>
                </a:solidFill>
                <a:effectLst/>
                <a:uFillTx/>
                <a:latin typeface="Cambria Math"/>
              </a:rPr>
              <a:t>D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Box 126"/>
          <p:cNvSpPr/>
          <p:nvPr/>
        </p:nvSpPr>
        <p:spPr>
          <a:xfrm>
            <a:off x="10522080" y="2834640"/>
            <a:ext cx="1454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500" strike="noStrike" u="none">
                <a:solidFill>
                  <a:srgbClr val="222222"/>
                </a:solidFill>
                <a:effectLst/>
                <a:uFillTx/>
                <a:latin typeface="Cambria Math"/>
              </a:rPr>
              <a:t>=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Box 127"/>
          <p:cNvSpPr/>
          <p:nvPr/>
        </p:nvSpPr>
        <p:spPr>
          <a:xfrm>
            <a:off x="10729080" y="2834640"/>
            <a:ext cx="1987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500" strike="noStrike" u="none">
                <a:solidFill>
                  <a:srgbClr val="222222"/>
                </a:solidFill>
                <a:effectLst/>
                <a:uFillTx/>
                <a:latin typeface="Cambria Math"/>
              </a:rPr>
              <a:t>3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Box 128"/>
          <p:cNvSpPr/>
          <p:nvPr/>
        </p:nvSpPr>
        <p:spPr>
          <a:xfrm>
            <a:off x="9996840" y="3584520"/>
            <a:ext cx="17496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200" strike="noStrike" u="none">
                <a:solidFill>
                  <a:srgbClr val="747474"/>
                </a:solidFill>
                <a:effectLst/>
                <a:uFillTx/>
                <a:latin typeface="Cambria Math"/>
              </a:rPr>
              <a:t>D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Box 129"/>
          <p:cNvSpPr/>
          <p:nvPr/>
        </p:nvSpPr>
        <p:spPr>
          <a:xfrm>
            <a:off x="10233360" y="3584520"/>
            <a:ext cx="12780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200" strike="noStrike" u="none">
                <a:solidFill>
                  <a:srgbClr val="747474"/>
                </a:solidFill>
                <a:effectLst/>
                <a:uFillTx/>
                <a:latin typeface="Cambria Math"/>
              </a:rPr>
              <a:t>=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Box 130"/>
          <p:cNvSpPr/>
          <p:nvPr/>
        </p:nvSpPr>
        <p:spPr>
          <a:xfrm>
            <a:off x="10423080" y="3625560"/>
            <a:ext cx="62928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490" strike="noStrike" u="none">
                <a:solidFill>
                  <a:srgbClr val="747474"/>
                </a:solidFill>
                <a:effectLst/>
                <a:uFillTx/>
                <a:latin typeface="Cambria Math"/>
              </a:rPr>
              <a:t>log 3</a:t>
            </a:r>
            <a:endParaRPr b="0" lang="en-US" sz="14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59" name="Connector 131"/>
          <p:cNvCxnSpPr/>
          <p:nvPr/>
        </p:nvCxnSpPr>
        <p:spPr>
          <a:xfrm>
            <a:off x="10468440" y="3907800"/>
            <a:ext cx="538560" cy="360"/>
          </a:xfrm>
          <a:prstGeom prst="straightConnector1">
            <a:avLst/>
          </a:prstGeom>
          <a:ln w="13970">
            <a:solidFill>
              <a:srgbClr val="747474"/>
            </a:solidFill>
          </a:ln>
        </p:spPr>
      </p:cxnSp>
      <p:sp>
        <p:nvSpPr>
          <p:cNvPr id="560" name="TextBox 132"/>
          <p:cNvSpPr/>
          <p:nvPr/>
        </p:nvSpPr>
        <p:spPr>
          <a:xfrm>
            <a:off x="10423080" y="3948120"/>
            <a:ext cx="6292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490" strike="noStrike" u="none">
                <a:solidFill>
                  <a:srgbClr val="747474"/>
                </a:solidFill>
                <a:effectLst/>
                <a:uFillTx/>
                <a:latin typeface="Cambria Math"/>
              </a:rPr>
              <a:t>log 2</a:t>
            </a:r>
            <a:endParaRPr b="0" lang="en-US" sz="14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Shape 0"/>
          <p:cNvSpPr/>
          <p:nvPr/>
        </p:nvSpPr>
        <p:spPr>
          <a:xfrm>
            <a:off x="567000" y="347400"/>
            <a:ext cx="529920" cy="347040"/>
          </a:xfrm>
          <a:prstGeom prst="roundRect">
            <a:avLst>
              <a:gd name="adj" fmla="val 42105"/>
            </a:avLst>
          </a:prstGeom>
          <a:solidFill>
            <a:srgbClr val="747474"/>
          </a:solidFill>
          <a:ln w="1270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1"/>
          <p:cNvSpPr/>
          <p:nvPr/>
        </p:nvSpPr>
        <p:spPr>
          <a:xfrm>
            <a:off x="567000" y="356760"/>
            <a:ext cx="529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14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2"/>
          <p:cNvSpPr/>
          <p:nvPr/>
        </p:nvSpPr>
        <p:spPr>
          <a:xfrm>
            <a:off x="1234440" y="3474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I</a:t>
            </a:r>
            <a:r>
              <a:rPr b="1" lang="zh-CN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｜修正既有理解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3"/>
          <p:cNvSpPr/>
          <p:nvPr/>
        </p:nvSpPr>
        <p:spPr>
          <a:xfrm>
            <a:off x="676800" y="932760"/>
            <a:ext cx="10926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1.585 </a:t>
            </a:r>
            <a:r>
              <a:rPr b="1" lang="zh-CN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維，不是「有 </a:t>
            </a:r>
            <a:r>
              <a:rPr b="1" lang="en-US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1.585 </a:t>
            </a:r>
            <a:r>
              <a:rPr b="1" lang="zh-CN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個方向」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4"/>
          <p:cNvSpPr/>
          <p:nvPr/>
        </p:nvSpPr>
        <p:spPr>
          <a:xfrm>
            <a:off x="667440" y="1746360"/>
            <a:ext cx="10881360" cy="360"/>
          </a:xfrm>
          <a:prstGeom prst="line">
            <a:avLst/>
          </a:prstGeom>
          <a:ln w="15875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5"/>
          <p:cNvSpPr/>
          <p:nvPr/>
        </p:nvSpPr>
        <p:spPr>
          <a:xfrm>
            <a:off x="685800" y="6053040"/>
            <a:ext cx="10817280" cy="360"/>
          </a:xfrm>
          <a:prstGeom prst="line">
            <a:avLst/>
          </a:prstGeom>
          <a:ln w="15240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6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7"/>
          <p:cNvSpPr/>
          <p:nvPr/>
        </p:nvSpPr>
        <p:spPr>
          <a:xfrm>
            <a:off x="1243440" y="6181200"/>
            <a:ext cx="10240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它描述的是幾何結構隨觀察尺度改變的增生程度。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8"/>
          <p:cNvSpPr/>
          <p:nvPr/>
        </p:nvSpPr>
        <p:spPr>
          <a:xfrm>
            <a:off x="1197720" y="4251960"/>
            <a:ext cx="9573840" cy="360"/>
          </a:xfrm>
          <a:prstGeom prst="line">
            <a:avLst/>
          </a:prstGeom>
          <a:ln w="43180">
            <a:solidFill>
              <a:srgbClr val="cfcf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9"/>
          <p:cNvSpPr/>
          <p:nvPr/>
        </p:nvSpPr>
        <p:spPr>
          <a:xfrm>
            <a:off x="1819800" y="4105800"/>
            <a:ext cx="292320" cy="29232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10"/>
          <p:cNvSpPr/>
          <p:nvPr/>
        </p:nvSpPr>
        <p:spPr>
          <a:xfrm>
            <a:off x="5916240" y="4069080"/>
            <a:ext cx="365400" cy="365400"/>
          </a:xfrm>
          <a:prstGeom prst="ellipse">
            <a:avLst/>
          </a:prstGeom>
          <a:solidFill>
            <a:srgbClr val="d35230"/>
          </a:solidFill>
          <a:ln w="1270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11"/>
          <p:cNvSpPr/>
          <p:nvPr/>
        </p:nvSpPr>
        <p:spPr>
          <a:xfrm>
            <a:off x="10003680" y="4105800"/>
            <a:ext cx="292320" cy="29232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12"/>
          <p:cNvSpPr/>
          <p:nvPr/>
        </p:nvSpPr>
        <p:spPr>
          <a:xfrm>
            <a:off x="1298520" y="4663440"/>
            <a:ext cx="1371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1 </a:t>
            </a:r>
            <a:r>
              <a:rPr b="0" lang="zh-CN" sz="22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維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13"/>
          <p:cNvSpPr/>
          <p:nvPr/>
        </p:nvSpPr>
        <p:spPr>
          <a:xfrm>
            <a:off x="5029200" y="4663440"/>
            <a:ext cx="21942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1.585 </a:t>
            </a:r>
            <a:r>
              <a:rPr b="1" lang="zh-CN" sz="24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維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14"/>
          <p:cNvSpPr/>
          <p:nvPr/>
        </p:nvSpPr>
        <p:spPr>
          <a:xfrm>
            <a:off x="9518760" y="4663440"/>
            <a:ext cx="1371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2 </a:t>
            </a:r>
            <a:r>
              <a:rPr b="0" lang="zh-CN" sz="22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維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15"/>
          <p:cNvSpPr/>
          <p:nvPr/>
        </p:nvSpPr>
        <p:spPr>
          <a:xfrm>
            <a:off x="1554480" y="3017520"/>
            <a:ext cx="868680" cy="360"/>
          </a:xfrm>
          <a:prstGeom prst="line">
            <a:avLst/>
          </a:prstGeom>
          <a:ln w="889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16"/>
          <p:cNvSpPr/>
          <p:nvPr/>
        </p:nvSpPr>
        <p:spPr>
          <a:xfrm>
            <a:off x="5973480" y="224928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17"/>
          <p:cNvSpPr/>
          <p:nvPr/>
        </p:nvSpPr>
        <p:spPr>
          <a:xfrm>
            <a:off x="5856840" y="245124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18"/>
          <p:cNvSpPr/>
          <p:nvPr/>
        </p:nvSpPr>
        <p:spPr>
          <a:xfrm>
            <a:off x="6089760" y="245124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19"/>
          <p:cNvSpPr/>
          <p:nvPr/>
        </p:nvSpPr>
        <p:spPr>
          <a:xfrm>
            <a:off x="5740200" y="265320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20"/>
          <p:cNvSpPr/>
          <p:nvPr/>
        </p:nvSpPr>
        <p:spPr>
          <a:xfrm>
            <a:off x="5623560" y="285516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21"/>
          <p:cNvSpPr/>
          <p:nvPr/>
        </p:nvSpPr>
        <p:spPr>
          <a:xfrm>
            <a:off x="5856840" y="285516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22"/>
          <p:cNvSpPr/>
          <p:nvPr/>
        </p:nvSpPr>
        <p:spPr>
          <a:xfrm>
            <a:off x="6206400" y="265320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23"/>
          <p:cNvSpPr/>
          <p:nvPr/>
        </p:nvSpPr>
        <p:spPr>
          <a:xfrm>
            <a:off x="6089760" y="285516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24"/>
          <p:cNvSpPr/>
          <p:nvPr/>
        </p:nvSpPr>
        <p:spPr>
          <a:xfrm>
            <a:off x="6323040" y="285516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25"/>
          <p:cNvSpPr/>
          <p:nvPr/>
        </p:nvSpPr>
        <p:spPr>
          <a:xfrm>
            <a:off x="5506920" y="305712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26"/>
          <p:cNvSpPr/>
          <p:nvPr/>
        </p:nvSpPr>
        <p:spPr>
          <a:xfrm>
            <a:off x="5390280" y="325908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27"/>
          <p:cNvSpPr/>
          <p:nvPr/>
        </p:nvSpPr>
        <p:spPr>
          <a:xfrm>
            <a:off x="5623560" y="325908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28"/>
          <p:cNvSpPr/>
          <p:nvPr/>
        </p:nvSpPr>
        <p:spPr>
          <a:xfrm>
            <a:off x="5273640" y="346104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29"/>
          <p:cNvSpPr/>
          <p:nvPr/>
        </p:nvSpPr>
        <p:spPr>
          <a:xfrm>
            <a:off x="5157360" y="366300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30"/>
          <p:cNvSpPr/>
          <p:nvPr/>
        </p:nvSpPr>
        <p:spPr>
          <a:xfrm>
            <a:off x="5390280" y="366300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31"/>
          <p:cNvSpPr/>
          <p:nvPr/>
        </p:nvSpPr>
        <p:spPr>
          <a:xfrm>
            <a:off x="5740200" y="346104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32"/>
          <p:cNvSpPr/>
          <p:nvPr/>
        </p:nvSpPr>
        <p:spPr>
          <a:xfrm>
            <a:off x="5623560" y="366300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33"/>
          <p:cNvSpPr/>
          <p:nvPr/>
        </p:nvSpPr>
        <p:spPr>
          <a:xfrm>
            <a:off x="5856840" y="366300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Shape 34"/>
          <p:cNvSpPr/>
          <p:nvPr/>
        </p:nvSpPr>
        <p:spPr>
          <a:xfrm>
            <a:off x="6439680" y="305712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35"/>
          <p:cNvSpPr/>
          <p:nvPr/>
        </p:nvSpPr>
        <p:spPr>
          <a:xfrm>
            <a:off x="6323040" y="325908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36"/>
          <p:cNvSpPr/>
          <p:nvPr/>
        </p:nvSpPr>
        <p:spPr>
          <a:xfrm>
            <a:off x="6556320" y="325908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37"/>
          <p:cNvSpPr/>
          <p:nvPr/>
        </p:nvSpPr>
        <p:spPr>
          <a:xfrm>
            <a:off x="6206400" y="346104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38"/>
          <p:cNvSpPr/>
          <p:nvPr/>
        </p:nvSpPr>
        <p:spPr>
          <a:xfrm>
            <a:off x="6089760" y="366300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39"/>
          <p:cNvSpPr/>
          <p:nvPr/>
        </p:nvSpPr>
        <p:spPr>
          <a:xfrm>
            <a:off x="6323040" y="366300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40"/>
          <p:cNvSpPr/>
          <p:nvPr/>
        </p:nvSpPr>
        <p:spPr>
          <a:xfrm>
            <a:off x="6672960" y="346104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41"/>
          <p:cNvSpPr/>
          <p:nvPr/>
        </p:nvSpPr>
        <p:spPr>
          <a:xfrm>
            <a:off x="6556320" y="366300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42"/>
          <p:cNvSpPr/>
          <p:nvPr/>
        </p:nvSpPr>
        <p:spPr>
          <a:xfrm>
            <a:off x="6789600" y="3663000"/>
            <a:ext cx="232920" cy="201600"/>
          </a:xfrm>
          <a:prstGeom prst="triangle">
            <a:avLst>
              <a:gd name="adj" fmla="val 50000"/>
            </a:avLst>
          </a:prstGeom>
          <a:solidFill>
            <a:srgbClr val="222222"/>
          </a:solidFill>
          <a:ln w="63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43"/>
          <p:cNvSpPr/>
          <p:nvPr/>
        </p:nvSpPr>
        <p:spPr>
          <a:xfrm>
            <a:off x="9628560" y="2423160"/>
            <a:ext cx="1051200" cy="10512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44"/>
          <p:cNvSpPr/>
          <p:nvPr/>
        </p:nvSpPr>
        <p:spPr>
          <a:xfrm>
            <a:off x="1389960" y="523044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8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線狀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45"/>
          <p:cNvSpPr/>
          <p:nvPr/>
        </p:nvSpPr>
        <p:spPr>
          <a:xfrm>
            <a:off x="4709160" y="5230440"/>
            <a:ext cx="28342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8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介於線與面之間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46"/>
          <p:cNvSpPr/>
          <p:nvPr/>
        </p:nvSpPr>
        <p:spPr>
          <a:xfrm>
            <a:off x="9253800" y="523044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8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填滿平面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Shape 0"/>
          <p:cNvSpPr/>
          <p:nvPr/>
        </p:nvSpPr>
        <p:spPr>
          <a:xfrm>
            <a:off x="567000" y="347400"/>
            <a:ext cx="529920" cy="347040"/>
          </a:xfrm>
          <a:prstGeom prst="roundRect">
            <a:avLst>
              <a:gd name="adj" fmla="val 42105"/>
            </a:avLst>
          </a:prstGeom>
          <a:solidFill>
            <a:srgbClr val="747474"/>
          </a:solidFill>
          <a:ln w="1270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1"/>
          <p:cNvSpPr/>
          <p:nvPr/>
        </p:nvSpPr>
        <p:spPr>
          <a:xfrm>
            <a:off x="567000" y="356760"/>
            <a:ext cx="529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15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2"/>
          <p:cNvSpPr/>
          <p:nvPr/>
        </p:nvSpPr>
        <p:spPr>
          <a:xfrm>
            <a:off x="1234440" y="3474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I</a:t>
            </a:r>
            <a:r>
              <a:rPr b="1" lang="zh-CN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｜整合三種測量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3"/>
          <p:cNvSpPr/>
          <p:nvPr/>
        </p:nvSpPr>
        <p:spPr>
          <a:xfrm>
            <a:off x="676800" y="932760"/>
            <a:ext cx="10926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同一個碎形，用不同「尺」會看見不同結果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Shape 4"/>
          <p:cNvSpPr/>
          <p:nvPr/>
        </p:nvSpPr>
        <p:spPr>
          <a:xfrm>
            <a:off x="667440" y="1746360"/>
            <a:ext cx="10881360" cy="360"/>
          </a:xfrm>
          <a:prstGeom prst="line">
            <a:avLst/>
          </a:prstGeom>
          <a:ln w="15875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Shape 5"/>
          <p:cNvSpPr/>
          <p:nvPr/>
        </p:nvSpPr>
        <p:spPr>
          <a:xfrm>
            <a:off x="685800" y="6053040"/>
            <a:ext cx="10817280" cy="360"/>
          </a:xfrm>
          <a:prstGeom prst="line">
            <a:avLst/>
          </a:prstGeom>
          <a:ln w="15240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6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7"/>
          <p:cNvSpPr/>
          <p:nvPr/>
        </p:nvSpPr>
        <p:spPr>
          <a:xfrm>
            <a:off x="1243440" y="6181200"/>
            <a:ext cx="10240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不是矛盾，而是面積、長度與碎形維度的測量角度不同。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8"/>
          <p:cNvSpPr/>
          <p:nvPr/>
        </p:nvSpPr>
        <p:spPr>
          <a:xfrm>
            <a:off x="722520" y="2258640"/>
            <a:ext cx="3391920" cy="3154320"/>
          </a:xfrm>
          <a:prstGeom prst="roundRect">
            <a:avLst>
              <a:gd name="adj" fmla="val 3478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9"/>
          <p:cNvSpPr/>
          <p:nvPr/>
        </p:nvSpPr>
        <p:spPr>
          <a:xfrm>
            <a:off x="4398120" y="2258640"/>
            <a:ext cx="3391920" cy="3154320"/>
          </a:xfrm>
          <a:prstGeom prst="roundRect">
            <a:avLst>
              <a:gd name="adj" fmla="val 3478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Shape 10"/>
          <p:cNvSpPr/>
          <p:nvPr/>
        </p:nvSpPr>
        <p:spPr>
          <a:xfrm>
            <a:off x="8083440" y="2258640"/>
            <a:ext cx="3382920" cy="3154320"/>
          </a:xfrm>
          <a:prstGeom prst="roundRect">
            <a:avLst>
              <a:gd name="adj" fmla="val 3478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11"/>
          <p:cNvSpPr/>
          <p:nvPr/>
        </p:nvSpPr>
        <p:spPr>
          <a:xfrm>
            <a:off x="1143000" y="2651760"/>
            <a:ext cx="2559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4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二維面積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12"/>
          <p:cNvSpPr/>
          <p:nvPr/>
        </p:nvSpPr>
        <p:spPr>
          <a:xfrm>
            <a:off x="1481400" y="342900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0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13"/>
          <p:cNvSpPr/>
          <p:nvPr/>
        </p:nvSpPr>
        <p:spPr>
          <a:xfrm>
            <a:off x="1051560" y="4636080"/>
            <a:ext cx="2724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8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不填滿平面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14"/>
          <p:cNvSpPr/>
          <p:nvPr/>
        </p:nvSpPr>
        <p:spPr>
          <a:xfrm>
            <a:off x="4690800" y="2651760"/>
            <a:ext cx="2788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4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一維邊界長度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15"/>
          <p:cNvSpPr/>
          <p:nvPr/>
        </p:nvSpPr>
        <p:spPr>
          <a:xfrm>
            <a:off x="5102280" y="3429000"/>
            <a:ext cx="1919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∞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16"/>
          <p:cNvSpPr/>
          <p:nvPr/>
        </p:nvSpPr>
        <p:spPr>
          <a:xfrm>
            <a:off x="4572000" y="4636080"/>
            <a:ext cx="301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8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孔洞邊界無限增生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17"/>
          <p:cNvSpPr/>
          <p:nvPr/>
        </p:nvSpPr>
        <p:spPr>
          <a:xfrm>
            <a:off x="8394120" y="2651760"/>
            <a:ext cx="2742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4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碎形維度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18"/>
          <p:cNvSpPr/>
          <p:nvPr/>
        </p:nvSpPr>
        <p:spPr>
          <a:xfrm>
            <a:off x="8540640" y="3429000"/>
            <a:ext cx="2377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1.585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19"/>
          <p:cNvSpPr/>
          <p:nvPr/>
        </p:nvSpPr>
        <p:spPr>
          <a:xfrm>
            <a:off x="8275320" y="4636080"/>
            <a:ext cx="301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8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尺度與份數關係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Shape 0"/>
          <p:cNvSpPr/>
          <p:nvPr/>
        </p:nvSpPr>
        <p:spPr>
          <a:xfrm>
            <a:off x="567000" y="347400"/>
            <a:ext cx="529920" cy="347040"/>
          </a:xfrm>
          <a:prstGeom prst="roundRect">
            <a:avLst>
              <a:gd name="adj" fmla="val 42105"/>
            </a:avLst>
          </a:prstGeom>
          <a:solidFill>
            <a:srgbClr val="747474"/>
          </a:solidFill>
          <a:ln w="1270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29" name="Text 1"/>
          <p:cNvSpPr/>
          <p:nvPr/>
        </p:nvSpPr>
        <p:spPr>
          <a:xfrm>
            <a:off x="567000" y="356760"/>
            <a:ext cx="529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16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2"/>
          <p:cNvSpPr/>
          <p:nvPr/>
        </p:nvSpPr>
        <p:spPr>
          <a:xfrm>
            <a:off x="1234440" y="3474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L</a:t>
            </a:r>
            <a:r>
              <a:rPr b="1" lang="zh-CN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｜遷移挑戰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3"/>
          <p:cNvSpPr/>
          <p:nvPr/>
        </p:nvSpPr>
        <p:spPr>
          <a:xfrm>
            <a:off x="676800" y="932760"/>
            <a:ext cx="10926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換成另一種碎形，你能算出它的維度嗎？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4"/>
          <p:cNvSpPr/>
          <p:nvPr/>
        </p:nvSpPr>
        <p:spPr>
          <a:xfrm>
            <a:off x="667440" y="1746360"/>
            <a:ext cx="10881360" cy="360"/>
          </a:xfrm>
          <a:prstGeom prst="line">
            <a:avLst/>
          </a:prstGeom>
          <a:ln w="15875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33" name="Shape 5"/>
          <p:cNvSpPr/>
          <p:nvPr/>
        </p:nvSpPr>
        <p:spPr>
          <a:xfrm>
            <a:off x="685800" y="6053040"/>
            <a:ext cx="10817280" cy="360"/>
          </a:xfrm>
          <a:prstGeom prst="line">
            <a:avLst/>
          </a:prstGeom>
          <a:ln w="15240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34" name="Shape 6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35" name="Text 7"/>
          <p:cNvSpPr/>
          <p:nvPr/>
        </p:nvSpPr>
        <p:spPr>
          <a:xfrm>
            <a:off x="1243440" y="6181200"/>
            <a:ext cx="10240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找出「縮小的倍率」與「複製的份數」，再算維度。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8"/>
          <p:cNvSpPr/>
          <p:nvPr/>
        </p:nvSpPr>
        <p:spPr>
          <a:xfrm>
            <a:off x="1005840" y="3794760"/>
            <a:ext cx="2258280" cy="360"/>
          </a:xfrm>
          <a:prstGeom prst="line">
            <a:avLst/>
          </a:prstGeom>
          <a:ln w="3048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37" name="Shape 9"/>
          <p:cNvSpPr/>
          <p:nvPr/>
        </p:nvSpPr>
        <p:spPr>
          <a:xfrm>
            <a:off x="1225440" y="4553640"/>
            <a:ext cx="1828440" cy="429480"/>
          </a:xfrm>
          <a:prstGeom prst="roundRect">
            <a:avLst>
              <a:gd name="adj" fmla="val 25532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38" name="Text 10"/>
          <p:cNvSpPr/>
          <p:nvPr/>
        </p:nvSpPr>
        <p:spPr>
          <a:xfrm>
            <a:off x="1334880" y="4572000"/>
            <a:ext cx="160884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0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第 </a:t>
            </a:r>
            <a:r>
              <a:rPr b="0" lang="en-US" sz="20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0 </a:t>
            </a:r>
            <a:r>
              <a:rPr b="0" lang="zh-CN" sz="20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次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Shape 11"/>
          <p:cNvSpPr/>
          <p:nvPr/>
        </p:nvSpPr>
        <p:spPr>
          <a:xfrm>
            <a:off x="4169520" y="3794760"/>
            <a:ext cx="752760" cy="360"/>
          </a:xfrm>
          <a:prstGeom prst="line">
            <a:avLst/>
          </a:prstGeom>
          <a:ln w="2730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40" name="Shape 12"/>
          <p:cNvSpPr/>
          <p:nvPr/>
        </p:nvSpPr>
        <p:spPr>
          <a:xfrm flipV="1">
            <a:off x="4922280" y="3142440"/>
            <a:ext cx="376560" cy="652320"/>
          </a:xfrm>
          <a:prstGeom prst="line">
            <a:avLst/>
          </a:prstGeom>
          <a:ln w="2730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41" name="Shape 13"/>
          <p:cNvSpPr/>
          <p:nvPr/>
        </p:nvSpPr>
        <p:spPr>
          <a:xfrm>
            <a:off x="5298840" y="3142440"/>
            <a:ext cx="376200" cy="652320"/>
          </a:xfrm>
          <a:prstGeom prst="line">
            <a:avLst/>
          </a:prstGeom>
          <a:ln w="2730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42" name="Shape 14"/>
          <p:cNvSpPr/>
          <p:nvPr/>
        </p:nvSpPr>
        <p:spPr>
          <a:xfrm>
            <a:off x="5675040" y="3794760"/>
            <a:ext cx="753120" cy="360"/>
          </a:xfrm>
          <a:prstGeom prst="line">
            <a:avLst/>
          </a:prstGeom>
          <a:ln w="2730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43" name="Shape 15"/>
          <p:cNvSpPr/>
          <p:nvPr/>
        </p:nvSpPr>
        <p:spPr>
          <a:xfrm>
            <a:off x="4389120" y="4553640"/>
            <a:ext cx="1828440" cy="429480"/>
          </a:xfrm>
          <a:prstGeom prst="roundRect">
            <a:avLst>
              <a:gd name="adj" fmla="val 25532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44" name="Text 16"/>
          <p:cNvSpPr/>
          <p:nvPr/>
        </p:nvSpPr>
        <p:spPr>
          <a:xfrm>
            <a:off x="4498920" y="4572000"/>
            <a:ext cx="160884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0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第 </a:t>
            </a:r>
            <a:r>
              <a:rPr b="0" lang="en-US" sz="20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1 </a:t>
            </a:r>
            <a:r>
              <a:rPr b="0" lang="zh-CN" sz="20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次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17"/>
          <p:cNvSpPr/>
          <p:nvPr/>
        </p:nvSpPr>
        <p:spPr>
          <a:xfrm>
            <a:off x="7589520" y="3794760"/>
            <a:ext cx="250920" cy="360"/>
          </a:xfrm>
          <a:prstGeom prst="line">
            <a:avLst/>
          </a:prstGeom>
          <a:ln w="2413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46" name="Shape 18"/>
          <p:cNvSpPr/>
          <p:nvPr/>
        </p:nvSpPr>
        <p:spPr>
          <a:xfrm flipV="1">
            <a:off x="7840440" y="3577320"/>
            <a:ext cx="125280" cy="217440"/>
          </a:xfrm>
          <a:prstGeom prst="line">
            <a:avLst/>
          </a:prstGeom>
          <a:ln w="2413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47" name="Shape 19"/>
          <p:cNvSpPr/>
          <p:nvPr/>
        </p:nvSpPr>
        <p:spPr>
          <a:xfrm>
            <a:off x="7965720" y="3577320"/>
            <a:ext cx="125640" cy="217440"/>
          </a:xfrm>
          <a:prstGeom prst="line">
            <a:avLst/>
          </a:prstGeom>
          <a:ln w="2413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48" name="Shape 20"/>
          <p:cNvSpPr/>
          <p:nvPr/>
        </p:nvSpPr>
        <p:spPr>
          <a:xfrm>
            <a:off x="8091360" y="3794760"/>
            <a:ext cx="250920" cy="360"/>
          </a:xfrm>
          <a:prstGeom prst="line">
            <a:avLst/>
          </a:prstGeom>
          <a:ln w="2413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49" name="Shape 21"/>
          <p:cNvSpPr/>
          <p:nvPr/>
        </p:nvSpPr>
        <p:spPr>
          <a:xfrm flipV="1">
            <a:off x="8342280" y="3577320"/>
            <a:ext cx="125280" cy="217440"/>
          </a:xfrm>
          <a:prstGeom prst="line">
            <a:avLst/>
          </a:prstGeom>
          <a:ln w="2413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50" name="Shape 22"/>
          <p:cNvSpPr/>
          <p:nvPr/>
        </p:nvSpPr>
        <p:spPr>
          <a:xfrm flipH="1" flipV="1">
            <a:off x="8342280" y="3359880"/>
            <a:ext cx="125280" cy="217440"/>
          </a:xfrm>
          <a:prstGeom prst="line">
            <a:avLst/>
          </a:prstGeom>
          <a:ln w="2413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51" name="Shape 23"/>
          <p:cNvSpPr/>
          <p:nvPr/>
        </p:nvSpPr>
        <p:spPr>
          <a:xfrm>
            <a:off x="8342280" y="3359880"/>
            <a:ext cx="250920" cy="360"/>
          </a:xfrm>
          <a:prstGeom prst="line">
            <a:avLst/>
          </a:prstGeom>
          <a:ln w="2413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52" name="Shape 24"/>
          <p:cNvSpPr/>
          <p:nvPr/>
        </p:nvSpPr>
        <p:spPr>
          <a:xfrm flipV="1">
            <a:off x="8593200" y="3142440"/>
            <a:ext cx="125280" cy="217440"/>
          </a:xfrm>
          <a:prstGeom prst="line">
            <a:avLst/>
          </a:prstGeom>
          <a:ln w="2413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53" name="Shape 25"/>
          <p:cNvSpPr/>
          <p:nvPr/>
        </p:nvSpPr>
        <p:spPr>
          <a:xfrm>
            <a:off x="8718480" y="3142440"/>
            <a:ext cx="125640" cy="217440"/>
          </a:xfrm>
          <a:prstGeom prst="line">
            <a:avLst/>
          </a:prstGeom>
          <a:ln w="2413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54" name="Shape 26"/>
          <p:cNvSpPr/>
          <p:nvPr/>
        </p:nvSpPr>
        <p:spPr>
          <a:xfrm>
            <a:off x="8844120" y="3359880"/>
            <a:ext cx="250920" cy="360"/>
          </a:xfrm>
          <a:prstGeom prst="line">
            <a:avLst/>
          </a:prstGeom>
          <a:ln w="2413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55" name="Shape 27"/>
          <p:cNvSpPr/>
          <p:nvPr/>
        </p:nvSpPr>
        <p:spPr>
          <a:xfrm flipH="1">
            <a:off x="8969400" y="3359880"/>
            <a:ext cx="125640" cy="217440"/>
          </a:xfrm>
          <a:prstGeom prst="line">
            <a:avLst/>
          </a:prstGeom>
          <a:ln w="2413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56" name="Shape 28"/>
          <p:cNvSpPr/>
          <p:nvPr/>
        </p:nvSpPr>
        <p:spPr>
          <a:xfrm>
            <a:off x="8969400" y="3577320"/>
            <a:ext cx="125640" cy="217440"/>
          </a:xfrm>
          <a:prstGeom prst="line">
            <a:avLst/>
          </a:prstGeom>
          <a:ln w="2413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57" name="Shape 29"/>
          <p:cNvSpPr/>
          <p:nvPr/>
        </p:nvSpPr>
        <p:spPr>
          <a:xfrm>
            <a:off x="9095040" y="3794760"/>
            <a:ext cx="250920" cy="360"/>
          </a:xfrm>
          <a:prstGeom prst="line">
            <a:avLst/>
          </a:prstGeom>
          <a:ln w="2413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58" name="Shape 30"/>
          <p:cNvSpPr/>
          <p:nvPr/>
        </p:nvSpPr>
        <p:spPr>
          <a:xfrm flipV="1">
            <a:off x="9345960" y="3577320"/>
            <a:ext cx="125640" cy="217440"/>
          </a:xfrm>
          <a:prstGeom prst="line">
            <a:avLst/>
          </a:prstGeom>
          <a:ln w="2413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59" name="Shape 31"/>
          <p:cNvSpPr/>
          <p:nvPr/>
        </p:nvSpPr>
        <p:spPr>
          <a:xfrm>
            <a:off x="9471600" y="3577320"/>
            <a:ext cx="125280" cy="217440"/>
          </a:xfrm>
          <a:prstGeom prst="line">
            <a:avLst/>
          </a:prstGeom>
          <a:ln w="2413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60" name="Shape 32"/>
          <p:cNvSpPr/>
          <p:nvPr/>
        </p:nvSpPr>
        <p:spPr>
          <a:xfrm>
            <a:off x="9596880" y="3794760"/>
            <a:ext cx="250920" cy="360"/>
          </a:xfrm>
          <a:prstGeom prst="line">
            <a:avLst/>
          </a:prstGeom>
          <a:ln w="2413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61" name="Shape 33"/>
          <p:cNvSpPr/>
          <p:nvPr/>
        </p:nvSpPr>
        <p:spPr>
          <a:xfrm>
            <a:off x="7809120" y="4553640"/>
            <a:ext cx="1828440" cy="429480"/>
          </a:xfrm>
          <a:prstGeom prst="roundRect">
            <a:avLst>
              <a:gd name="adj" fmla="val 25532"/>
            </a:avLst>
          </a:prstGeom>
          <a:solidFill>
            <a:srgbClr val="fbeae4"/>
          </a:solidFill>
          <a:ln w="12700">
            <a:solidFill>
              <a:srgbClr val="fbea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TC"/>
            </a:endParaRPr>
          </a:p>
        </p:txBody>
      </p:sp>
      <p:sp>
        <p:nvSpPr>
          <p:cNvPr id="662" name="Text 34"/>
          <p:cNvSpPr/>
          <p:nvPr/>
        </p:nvSpPr>
        <p:spPr>
          <a:xfrm>
            <a:off x="7918560" y="4572000"/>
            <a:ext cx="160884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0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第 </a:t>
            </a:r>
            <a:r>
              <a:rPr b="1" lang="en-US" sz="20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2 </a:t>
            </a:r>
            <a:r>
              <a:rPr b="1" lang="zh-CN" sz="20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次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35"/>
          <p:cNvSpPr/>
          <p:nvPr/>
        </p:nvSpPr>
        <p:spPr>
          <a:xfrm>
            <a:off x="877680" y="2258640"/>
            <a:ext cx="59432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5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科赫曲線（</a:t>
            </a:r>
            <a:r>
              <a:rPr b="1" lang="en-US" sz="25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Koch curve</a:t>
            </a:r>
            <a:r>
              <a:rPr b="1" lang="zh-CN" sz="25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）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36"/>
          <p:cNvSpPr/>
          <p:nvPr/>
        </p:nvSpPr>
        <p:spPr>
          <a:xfrm>
            <a:off x="896040" y="5257800"/>
            <a:ext cx="27428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2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每段 → </a:t>
            </a:r>
            <a:r>
              <a:rPr b="0" lang="en-US" sz="22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4 </a:t>
            </a:r>
            <a:r>
              <a:rPr b="0" lang="zh-CN" sz="22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段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 37"/>
          <p:cNvSpPr/>
          <p:nvPr/>
        </p:nvSpPr>
        <p:spPr>
          <a:xfrm>
            <a:off x="3721680" y="5257800"/>
            <a:ext cx="34743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2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每段長度 → 三分之一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Box 39"/>
          <p:cNvSpPr/>
          <p:nvPr/>
        </p:nvSpPr>
        <p:spPr>
          <a:xfrm>
            <a:off x="8375040" y="5148000"/>
            <a:ext cx="167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10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Box 40"/>
          <p:cNvSpPr/>
          <p:nvPr/>
        </p:nvSpPr>
        <p:spPr>
          <a:xfrm>
            <a:off x="8603640" y="5148000"/>
            <a:ext cx="12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10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=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Box 41"/>
          <p:cNvSpPr/>
          <p:nvPr/>
        </p:nvSpPr>
        <p:spPr>
          <a:xfrm>
            <a:off x="8787240" y="5139000"/>
            <a:ext cx="60804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43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log 4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9" name="Connector 42"/>
          <p:cNvCxnSpPr/>
          <p:nvPr/>
        </p:nvCxnSpPr>
        <p:spPr>
          <a:xfrm>
            <a:off x="8832960" y="5420880"/>
            <a:ext cx="517320" cy="360"/>
          </a:xfrm>
          <a:prstGeom prst="straightConnector1">
            <a:avLst/>
          </a:prstGeom>
          <a:ln w="13970">
            <a:solidFill>
              <a:srgbClr val="d35230"/>
            </a:solidFill>
          </a:ln>
        </p:spPr>
      </p:cxnSp>
      <p:sp>
        <p:nvSpPr>
          <p:cNvPr id="670" name="TextBox 43"/>
          <p:cNvSpPr/>
          <p:nvPr/>
        </p:nvSpPr>
        <p:spPr>
          <a:xfrm>
            <a:off x="8787240" y="5461560"/>
            <a:ext cx="60804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43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log 3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Box 44"/>
          <p:cNvSpPr/>
          <p:nvPr/>
        </p:nvSpPr>
        <p:spPr>
          <a:xfrm>
            <a:off x="9456840" y="5148000"/>
            <a:ext cx="178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10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≈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Box 45"/>
          <p:cNvSpPr/>
          <p:nvPr/>
        </p:nvSpPr>
        <p:spPr>
          <a:xfrm>
            <a:off x="9697320" y="5148000"/>
            <a:ext cx="791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2100" strike="noStrike" u="none">
                <a:solidFill>
                  <a:srgbClr val="d35230"/>
                </a:solidFill>
                <a:effectLst/>
                <a:uFillTx/>
                <a:latin typeface="Cambria Math"/>
              </a:rPr>
              <a:t>1.262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Shape 0"/>
          <p:cNvSpPr/>
          <p:nvPr/>
        </p:nvSpPr>
        <p:spPr>
          <a:xfrm>
            <a:off x="567000" y="347400"/>
            <a:ext cx="529920" cy="347040"/>
          </a:xfrm>
          <a:prstGeom prst="roundRect">
            <a:avLst>
              <a:gd name="adj" fmla="val 42105"/>
            </a:avLst>
          </a:prstGeom>
          <a:solidFill>
            <a:srgbClr val="747474"/>
          </a:solidFill>
          <a:ln w="1270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1"/>
          <p:cNvSpPr/>
          <p:nvPr/>
        </p:nvSpPr>
        <p:spPr>
          <a:xfrm>
            <a:off x="567000" y="356760"/>
            <a:ext cx="529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17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2"/>
          <p:cNvSpPr/>
          <p:nvPr/>
        </p:nvSpPr>
        <p:spPr>
          <a:xfrm>
            <a:off x="1234440" y="3474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L</a:t>
            </a:r>
            <a:r>
              <a:rPr b="1" lang="zh-CN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｜生活遷移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3"/>
          <p:cNvSpPr/>
          <p:nvPr/>
        </p:nvSpPr>
        <p:spPr>
          <a:xfrm>
            <a:off x="676800" y="932760"/>
            <a:ext cx="10926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海岸線明明是一條線，怎麼也可能超過 </a:t>
            </a:r>
            <a:r>
              <a:rPr b="1" lang="en-US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1 </a:t>
            </a:r>
            <a:r>
              <a:rPr b="1" lang="zh-CN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維？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Shape 4"/>
          <p:cNvSpPr/>
          <p:nvPr/>
        </p:nvSpPr>
        <p:spPr>
          <a:xfrm>
            <a:off x="667440" y="1746360"/>
            <a:ext cx="10881360" cy="360"/>
          </a:xfrm>
          <a:prstGeom prst="line">
            <a:avLst/>
          </a:prstGeom>
          <a:ln w="15875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Shape 5"/>
          <p:cNvSpPr/>
          <p:nvPr/>
        </p:nvSpPr>
        <p:spPr>
          <a:xfrm>
            <a:off x="685800" y="6053040"/>
            <a:ext cx="10817280" cy="360"/>
          </a:xfrm>
          <a:prstGeom prst="line">
            <a:avLst/>
          </a:prstGeom>
          <a:ln w="15240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6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7"/>
          <p:cNvSpPr/>
          <p:nvPr/>
        </p:nvSpPr>
        <p:spPr>
          <a:xfrm>
            <a:off x="1243440" y="6181200"/>
            <a:ext cx="10240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觀察尺度不同，看到的曲折細節也不同。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8"/>
          <p:cNvSpPr/>
          <p:nvPr/>
        </p:nvSpPr>
        <p:spPr>
          <a:xfrm>
            <a:off x="768240" y="2130480"/>
            <a:ext cx="5138640" cy="3410280"/>
          </a:xfrm>
          <a:prstGeom prst="roundRect">
            <a:avLst>
              <a:gd name="adj" fmla="val 3217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9"/>
          <p:cNvSpPr/>
          <p:nvPr/>
        </p:nvSpPr>
        <p:spPr>
          <a:xfrm>
            <a:off x="6282000" y="2130480"/>
            <a:ext cx="5138640" cy="3410280"/>
          </a:xfrm>
          <a:prstGeom prst="roundRect">
            <a:avLst>
              <a:gd name="adj" fmla="val 3217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 10"/>
          <p:cNvSpPr/>
          <p:nvPr/>
        </p:nvSpPr>
        <p:spPr>
          <a:xfrm>
            <a:off x="1060560" y="2432160"/>
            <a:ext cx="4525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3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大尺度觀察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11"/>
          <p:cNvSpPr/>
          <p:nvPr/>
        </p:nvSpPr>
        <p:spPr>
          <a:xfrm>
            <a:off x="6592680" y="2432160"/>
            <a:ext cx="4525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3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小尺度觀察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Shape 12"/>
          <p:cNvSpPr/>
          <p:nvPr/>
        </p:nvSpPr>
        <p:spPr>
          <a:xfrm flipV="1">
            <a:off x="1170360" y="3758040"/>
            <a:ext cx="640080" cy="429840"/>
          </a:xfrm>
          <a:prstGeom prst="line">
            <a:avLst/>
          </a:prstGeom>
          <a:ln w="508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Shape 13"/>
          <p:cNvSpPr/>
          <p:nvPr/>
        </p:nvSpPr>
        <p:spPr>
          <a:xfrm>
            <a:off x="1810440" y="3758040"/>
            <a:ext cx="530280" cy="228600"/>
          </a:xfrm>
          <a:prstGeom prst="line">
            <a:avLst/>
          </a:prstGeom>
          <a:ln w="508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14"/>
          <p:cNvSpPr/>
          <p:nvPr/>
        </p:nvSpPr>
        <p:spPr>
          <a:xfrm flipV="1">
            <a:off x="2340720" y="3447000"/>
            <a:ext cx="539640" cy="539640"/>
          </a:xfrm>
          <a:prstGeom prst="line">
            <a:avLst/>
          </a:prstGeom>
          <a:ln w="508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Shape 15"/>
          <p:cNvSpPr/>
          <p:nvPr/>
        </p:nvSpPr>
        <p:spPr>
          <a:xfrm>
            <a:off x="2880360" y="3447000"/>
            <a:ext cx="658080" cy="311040"/>
          </a:xfrm>
          <a:prstGeom prst="line">
            <a:avLst/>
          </a:prstGeom>
          <a:ln w="508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Shape 16"/>
          <p:cNvSpPr/>
          <p:nvPr/>
        </p:nvSpPr>
        <p:spPr>
          <a:xfrm flipV="1">
            <a:off x="3538440" y="3529440"/>
            <a:ext cx="521280" cy="228600"/>
          </a:xfrm>
          <a:prstGeom prst="line">
            <a:avLst/>
          </a:prstGeom>
          <a:ln w="508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Shape 17"/>
          <p:cNvSpPr/>
          <p:nvPr/>
        </p:nvSpPr>
        <p:spPr>
          <a:xfrm>
            <a:off x="4059720" y="3529440"/>
            <a:ext cx="1115640" cy="484560"/>
          </a:xfrm>
          <a:prstGeom prst="line">
            <a:avLst/>
          </a:prstGeom>
          <a:ln w="508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Shape 18"/>
          <p:cNvSpPr/>
          <p:nvPr/>
        </p:nvSpPr>
        <p:spPr>
          <a:xfrm flipV="1">
            <a:off x="6574320" y="3867840"/>
            <a:ext cx="210240" cy="320040"/>
          </a:xfrm>
          <a:prstGeom prst="line">
            <a:avLst/>
          </a:prstGeom>
          <a:ln w="2984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Shape 19"/>
          <p:cNvSpPr/>
          <p:nvPr/>
        </p:nvSpPr>
        <p:spPr>
          <a:xfrm>
            <a:off x="6784560" y="3867840"/>
            <a:ext cx="210600" cy="82080"/>
          </a:xfrm>
          <a:prstGeom prst="line">
            <a:avLst/>
          </a:prstGeom>
          <a:ln w="2984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7080" bIns="3708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20"/>
          <p:cNvSpPr/>
          <p:nvPr/>
        </p:nvSpPr>
        <p:spPr>
          <a:xfrm flipV="1">
            <a:off x="6995160" y="3721320"/>
            <a:ext cx="173520" cy="228600"/>
          </a:xfrm>
          <a:prstGeom prst="line">
            <a:avLst/>
          </a:prstGeom>
          <a:ln w="2984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Shape 21"/>
          <p:cNvSpPr/>
          <p:nvPr/>
        </p:nvSpPr>
        <p:spPr>
          <a:xfrm>
            <a:off x="7168680" y="3721320"/>
            <a:ext cx="210240" cy="82440"/>
          </a:xfrm>
          <a:prstGeom prst="line">
            <a:avLst/>
          </a:prstGeom>
          <a:ln w="2984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22"/>
          <p:cNvSpPr/>
          <p:nvPr/>
        </p:nvSpPr>
        <p:spPr>
          <a:xfrm>
            <a:off x="7378920" y="3803760"/>
            <a:ext cx="155520" cy="255960"/>
          </a:xfrm>
          <a:prstGeom prst="line">
            <a:avLst/>
          </a:prstGeom>
          <a:ln w="2984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23"/>
          <p:cNvSpPr/>
          <p:nvPr/>
        </p:nvSpPr>
        <p:spPr>
          <a:xfrm flipV="1">
            <a:off x="7534440" y="3822120"/>
            <a:ext cx="246960" cy="237600"/>
          </a:xfrm>
          <a:prstGeom prst="line">
            <a:avLst/>
          </a:prstGeom>
          <a:ln w="2984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Shape 24"/>
          <p:cNvSpPr/>
          <p:nvPr/>
        </p:nvSpPr>
        <p:spPr>
          <a:xfrm>
            <a:off x="7781400" y="3822120"/>
            <a:ext cx="201240" cy="137160"/>
          </a:xfrm>
          <a:prstGeom prst="line">
            <a:avLst/>
          </a:prstGeom>
          <a:ln w="2984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Shape 25"/>
          <p:cNvSpPr/>
          <p:nvPr/>
        </p:nvSpPr>
        <p:spPr>
          <a:xfrm flipV="1">
            <a:off x="7982640" y="3511080"/>
            <a:ext cx="182880" cy="448200"/>
          </a:xfrm>
          <a:prstGeom prst="line">
            <a:avLst/>
          </a:prstGeom>
          <a:ln w="2984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26"/>
          <p:cNvSpPr/>
          <p:nvPr/>
        </p:nvSpPr>
        <p:spPr>
          <a:xfrm>
            <a:off x="8165520" y="3511080"/>
            <a:ext cx="219240" cy="91440"/>
          </a:xfrm>
          <a:prstGeom prst="line">
            <a:avLst/>
          </a:prstGeom>
          <a:ln w="2984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Shape 27"/>
          <p:cNvSpPr/>
          <p:nvPr/>
        </p:nvSpPr>
        <p:spPr>
          <a:xfrm flipV="1">
            <a:off x="8384760" y="3364920"/>
            <a:ext cx="146520" cy="237600"/>
          </a:xfrm>
          <a:prstGeom prst="line">
            <a:avLst/>
          </a:prstGeom>
          <a:ln w="2984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Shape 28"/>
          <p:cNvSpPr/>
          <p:nvPr/>
        </p:nvSpPr>
        <p:spPr>
          <a:xfrm>
            <a:off x="8531280" y="3364920"/>
            <a:ext cx="210240" cy="438840"/>
          </a:xfrm>
          <a:prstGeom prst="line">
            <a:avLst/>
          </a:prstGeom>
          <a:ln w="2984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29"/>
          <p:cNvSpPr/>
          <p:nvPr/>
        </p:nvSpPr>
        <p:spPr>
          <a:xfrm flipV="1">
            <a:off x="8741520" y="3703320"/>
            <a:ext cx="246960" cy="100440"/>
          </a:xfrm>
          <a:prstGeom prst="line">
            <a:avLst/>
          </a:prstGeom>
          <a:ln w="2984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Shape 30"/>
          <p:cNvSpPr/>
          <p:nvPr/>
        </p:nvSpPr>
        <p:spPr>
          <a:xfrm>
            <a:off x="8988480" y="3703320"/>
            <a:ext cx="173520" cy="255960"/>
          </a:xfrm>
          <a:prstGeom prst="line">
            <a:avLst/>
          </a:prstGeom>
          <a:ln w="2984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Shape 31"/>
          <p:cNvSpPr/>
          <p:nvPr/>
        </p:nvSpPr>
        <p:spPr>
          <a:xfrm flipV="1">
            <a:off x="9162000" y="3556800"/>
            <a:ext cx="201240" cy="402480"/>
          </a:xfrm>
          <a:prstGeom prst="line">
            <a:avLst/>
          </a:prstGeom>
          <a:ln w="2984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Shape 32"/>
          <p:cNvSpPr/>
          <p:nvPr/>
        </p:nvSpPr>
        <p:spPr>
          <a:xfrm>
            <a:off x="9363240" y="3556800"/>
            <a:ext cx="182880" cy="182880"/>
          </a:xfrm>
          <a:prstGeom prst="line">
            <a:avLst/>
          </a:prstGeom>
          <a:ln w="2984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33"/>
          <p:cNvSpPr/>
          <p:nvPr/>
        </p:nvSpPr>
        <p:spPr>
          <a:xfrm flipV="1">
            <a:off x="9546120" y="3538440"/>
            <a:ext cx="210240" cy="201240"/>
          </a:xfrm>
          <a:prstGeom prst="line">
            <a:avLst/>
          </a:prstGeom>
          <a:ln w="2984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Shape 34"/>
          <p:cNvSpPr/>
          <p:nvPr/>
        </p:nvSpPr>
        <p:spPr>
          <a:xfrm>
            <a:off x="9756360" y="3538440"/>
            <a:ext cx="182880" cy="347760"/>
          </a:xfrm>
          <a:prstGeom prst="line">
            <a:avLst/>
          </a:prstGeom>
          <a:ln w="2984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Shape 35"/>
          <p:cNvSpPr/>
          <p:nvPr/>
        </p:nvSpPr>
        <p:spPr>
          <a:xfrm flipV="1">
            <a:off x="9939240" y="3566160"/>
            <a:ext cx="219600" cy="320040"/>
          </a:xfrm>
          <a:prstGeom prst="line">
            <a:avLst/>
          </a:prstGeom>
          <a:ln w="2984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Shape 36"/>
          <p:cNvSpPr/>
          <p:nvPr/>
        </p:nvSpPr>
        <p:spPr>
          <a:xfrm>
            <a:off x="10158840" y="3566160"/>
            <a:ext cx="210240" cy="219240"/>
          </a:xfrm>
          <a:prstGeom prst="line">
            <a:avLst/>
          </a:prstGeom>
          <a:ln w="2984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Shape 37"/>
          <p:cNvSpPr/>
          <p:nvPr/>
        </p:nvSpPr>
        <p:spPr>
          <a:xfrm flipV="1">
            <a:off x="10369080" y="3675600"/>
            <a:ext cx="173880" cy="109800"/>
          </a:xfrm>
          <a:prstGeom prst="line">
            <a:avLst/>
          </a:prstGeom>
          <a:ln w="2984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Shape 38"/>
          <p:cNvSpPr/>
          <p:nvPr/>
        </p:nvSpPr>
        <p:spPr>
          <a:xfrm>
            <a:off x="10542960" y="3675600"/>
            <a:ext cx="338400" cy="320040"/>
          </a:xfrm>
          <a:prstGeom prst="line">
            <a:avLst/>
          </a:prstGeom>
          <a:ln w="29845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39"/>
          <p:cNvSpPr/>
          <p:nvPr/>
        </p:nvSpPr>
        <p:spPr>
          <a:xfrm>
            <a:off x="1289160" y="4754880"/>
            <a:ext cx="4297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0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忽略細小轉折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 40"/>
          <p:cNvSpPr/>
          <p:nvPr/>
        </p:nvSpPr>
        <p:spPr>
          <a:xfrm>
            <a:off x="6720840" y="4754880"/>
            <a:ext cx="4297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0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更多轉折被量出來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Text 41"/>
          <p:cNvSpPr/>
          <p:nvPr/>
        </p:nvSpPr>
        <p:spPr>
          <a:xfrm>
            <a:off x="1417320" y="5650920"/>
            <a:ext cx="9344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注意：真實海岸線不一定具有單一且精確的碎形維度。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Shape 0"/>
          <p:cNvSpPr/>
          <p:nvPr/>
        </p:nvSpPr>
        <p:spPr>
          <a:xfrm>
            <a:off x="567000" y="347400"/>
            <a:ext cx="529920" cy="347040"/>
          </a:xfrm>
          <a:prstGeom prst="roundRect">
            <a:avLst>
              <a:gd name="adj" fmla="val 42105"/>
            </a:avLst>
          </a:prstGeom>
          <a:solidFill>
            <a:srgbClr val="747474"/>
          </a:solidFill>
          <a:ln w="1270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 1"/>
          <p:cNvSpPr/>
          <p:nvPr/>
        </p:nvSpPr>
        <p:spPr>
          <a:xfrm>
            <a:off x="567000" y="356760"/>
            <a:ext cx="529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18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 2"/>
          <p:cNvSpPr/>
          <p:nvPr/>
        </p:nvSpPr>
        <p:spPr>
          <a:xfrm>
            <a:off x="1234440" y="3474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L</a:t>
            </a:r>
            <a:r>
              <a:rPr b="1" lang="zh-CN" sz="15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｜統整與遷移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 3"/>
          <p:cNvSpPr/>
          <p:nvPr/>
        </p:nvSpPr>
        <p:spPr>
          <a:xfrm>
            <a:off x="676800" y="932760"/>
            <a:ext cx="10926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6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下次看到一個複雜圖形，先問這三個問題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Shape 4"/>
          <p:cNvSpPr/>
          <p:nvPr/>
        </p:nvSpPr>
        <p:spPr>
          <a:xfrm>
            <a:off x="667440" y="1746360"/>
            <a:ext cx="10881360" cy="360"/>
          </a:xfrm>
          <a:prstGeom prst="line">
            <a:avLst/>
          </a:prstGeom>
          <a:ln w="15875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Shape 5"/>
          <p:cNvSpPr/>
          <p:nvPr/>
        </p:nvSpPr>
        <p:spPr>
          <a:xfrm>
            <a:off x="685800" y="6053040"/>
            <a:ext cx="10817280" cy="360"/>
          </a:xfrm>
          <a:prstGeom prst="line">
            <a:avLst/>
          </a:prstGeom>
          <a:ln w="15240">
            <a:solidFill>
              <a:srgbClr val="e8e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6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 7"/>
          <p:cNvSpPr/>
          <p:nvPr/>
        </p:nvSpPr>
        <p:spPr>
          <a:xfrm>
            <a:off x="1243440" y="6181200"/>
            <a:ext cx="10240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414141"/>
                </a:solidFill>
                <a:effectLst/>
                <a:uFillTx/>
                <a:latin typeface="Noto Sans CJK TC"/>
                <a:ea typeface="Noto Sans CJK TC"/>
              </a:rPr>
              <a:t>維度，是結構隨尺度變化的線索。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Shape 8"/>
          <p:cNvSpPr/>
          <p:nvPr/>
        </p:nvSpPr>
        <p:spPr>
          <a:xfrm>
            <a:off x="951120" y="2267640"/>
            <a:ext cx="10286640" cy="804240"/>
          </a:xfrm>
          <a:prstGeom prst="roundRect">
            <a:avLst>
              <a:gd name="adj" fmla="val 13636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Shape 9"/>
          <p:cNvSpPr/>
          <p:nvPr/>
        </p:nvSpPr>
        <p:spPr>
          <a:xfrm>
            <a:off x="1243440" y="2487240"/>
            <a:ext cx="548280" cy="347040"/>
          </a:xfrm>
          <a:prstGeom prst="roundRect">
            <a:avLst>
              <a:gd name="adj" fmla="val 42105"/>
            </a:avLst>
          </a:prstGeom>
          <a:solidFill>
            <a:srgbClr val="747474"/>
          </a:solidFill>
          <a:ln w="1270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10"/>
          <p:cNvSpPr/>
          <p:nvPr/>
        </p:nvSpPr>
        <p:spPr>
          <a:xfrm>
            <a:off x="1243440" y="2496240"/>
            <a:ext cx="548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01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 11"/>
          <p:cNvSpPr/>
          <p:nvPr/>
        </p:nvSpPr>
        <p:spPr>
          <a:xfrm>
            <a:off x="2066400" y="2377440"/>
            <a:ext cx="8713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9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把尺度縮小多少？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Shape 12"/>
          <p:cNvSpPr/>
          <p:nvPr/>
        </p:nvSpPr>
        <p:spPr>
          <a:xfrm>
            <a:off x="951120" y="3255120"/>
            <a:ext cx="10286640" cy="804240"/>
          </a:xfrm>
          <a:prstGeom prst="roundRect">
            <a:avLst>
              <a:gd name="adj" fmla="val 13636"/>
            </a:avLst>
          </a:prstGeom>
          <a:solidFill>
            <a:srgbClr val="f4f3f1"/>
          </a:solidFill>
          <a:ln w="12700">
            <a:solidFill>
              <a:srgbClr val="f4f3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Shape 13"/>
          <p:cNvSpPr/>
          <p:nvPr/>
        </p:nvSpPr>
        <p:spPr>
          <a:xfrm>
            <a:off x="1243440" y="3474720"/>
            <a:ext cx="548280" cy="347040"/>
          </a:xfrm>
          <a:prstGeom prst="roundRect">
            <a:avLst>
              <a:gd name="adj" fmla="val 42105"/>
            </a:avLst>
          </a:prstGeom>
          <a:solidFill>
            <a:srgbClr val="747474"/>
          </a:solidFill>
          <a:ln w="12700">
            <a:solidFill>
              <a:srgbClr val="7474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14"/>
          <p:cNvSpPr/>
          <p:nvPr/>
        </p:nvSpPr>
        <p:spPr>
          <a:xfrm>
            <a:off x="1243440" y="3483720"/>
            <a:ext cx="548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02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 15"/>
          <p:cNvSpPr/>
          <p:nvPr/>
        </p:nvSpPr>
        <p:spPr>
          <a:xfrm>
            <a:off x="2066400" y="3364920"/>
            <a:ext cx="8713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900" strike="noStrike" u="none">
                <a:solidFill>
                  <a:srgbClr val="222222"/>
                </a:solidFill>
                <a:effectLst/>
                <a:uFillTx/>
                <a:latin typeface="Noto Sans CJK TC"/>
                <a:ea typeface="Noto Sans CJK TC"/>
              </a:rPr>
              <a:t>出現多少個相似部分？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Shape 16"/>
          <p:cNvSpPr/>
          <p:nvPr/>
        </p:nvSpPr>
        <p:spPr>
          <a:xfrm>
            <a:off x="951120" y="4242960"/>
            <a:ext cx="10286640" cy="804240"/>
          </a:xfrm>
          <a:prstGeom prst="roundRect">
            <a:avLst>
              <a:gd name="adj" fmla="val 13636"/>
            </a:avLst>
          </a:prstGeom>
          <a:solidFill>
            <a:srgbClr val="fbeae4"/>
          </a:solidFill>
          <a:ln w="12700">
            <a:solidFill>
              <a:srgbClr val="fbea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Shape 17"/>
          <p:cNvSpPr/>
          <p:nvPr/>
        </p:nvSpPr>
        <p:spPr>
          <a:xfrm>
            <a:off x="1243440" y="4462200"/>
            <a:ext cx="548280" cy="347040"/>
          </a:xfrm>
          <a:prstGeom prst="roundRect">
            <a:avLst>
              <a:gd name="adj" fmla="val 42105"/>
            </a:avLst>
          </a:prstGeom>
          <a:solidFill>
            <a:srgbClr val="d35230"/>
          </a:solidFill>
          <a:ln w="12700">
            <a:solidFill>
              <a:srgbClr val="d352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18"/>
          <p:cNvSpPr/>
          <p:nvPr/>
        </p:nvSpPr>
        <p:spPr>
          <a:xfrm>
            <a:off x="1243440" y="4471560"/>
            <a:ext cx="548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03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 19"/>
          <p:cNvSpPr/>
          <p:nvPr/>
        </p:nvSpPr>
        <p:spPr>
          <a:xfrm>
            <a:off x="2066400" y="4352400"/>
            <a:ext cx="8713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900" strike="noStrike" u="none">
                <a:solidFill>
                  <a:srgbClr val="d35230"/>
                </a:solidFill>
                <a:effectLst/>
                <a:uFillTx/>
                <a:latin typeface="Noto Sans CJK TC"/>
                <a:ea typeface="Noto Sans CJK TC"/>
              </a:rPr>
              <a:t>這代表怎樣的空間結構？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20"/>
          <p:cNvSpPr/>
          <p:nvPr/>
        </p:nvSpPr>
        <p:spPr>
          <a:xfrm>
            <a:off x="914400" y="5523120"/>
            <a:ext cx="1058832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0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課堂出口題：海岸線看似一條線，為什麼它可能比 </a:t>
            </a:r>
            <a:r>
              <a:rPr b="0" lang="en-US" sz="20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1 </a:t>
            </a:r>
            <a:r>
              <a:rPr b="0" lang="zh-CN" sz="2000" strike="noStrike" u="none">
                <a:solidFill>
                  <a:srgbClr val="747474"/>
                </a:solidFill>
                <a:effectLst/>
                <a:uFillTx/>
                <a:latin typeface="Noto Sans CJK TC"/>
                <a:ea typeface="Noto Sans CJK TC"/>
              </a:rPr>
              <a:t>維更複雜？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 pitchFamily="0" charset="1"/>
        <a:ea typeface=""/>
        <a:cs typeface=""/>
      </a:majorFont>
      <a:minorFont>
        <a:latin typeface="Noto Sans CJK TC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2026-10-11T02:14:18Z</dcterms:created>
  <dc:creator>SOIL Teaching Slides</dc:creator>
  <dc:description/>
  <dc:language>en-US</dc:language>
  <cp:lastModifiedBy>SOIL Teaching Slides</cp:lastModifiedBy>
  <dcterms:modified xsi:type="dcterms:W3CDTF">2026-10-11T02:14:18Z</dcterms:modified>
  <cp:revision>1</cp:revision>
  <dc:subject>SOIL教學簡報｜從相似縮小到碎形維度</dc:subject>
  <dc:title>面積變小，周長也會變小嗎？——從幾何直覺到碎形維度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18</vt:r8>
  </property>
  <property fmtid="{D5CDD505-2E9C-101B-9397-08002B2CF9AE}" pid="3" name="PresentationFormat">
    <vt:lpwstr>On-screen Show (16:9)</vt:lpwstr>
  </property>
  <property fmtid="{D5CDD505-2E9C-101B-9397-08002B2CF9AE}" pid="4" name="Slides">
    <vt:r8>18</vt:r8>
  </property>
</Properties>
</file>