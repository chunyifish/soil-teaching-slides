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fa5c9e9660410e" /><Relationship Type="http://schemas.openxmlformats.org/officeDocument/2006/relationships/extended-properties" Target="/docProps/app.xml" Id="Re8057000cc994c77" /><Relationship Type="http://schemas.openxmlformats.org/officeDocument/2006/relationships/officeDocument" Target="/ppt/presentation.xml" Id="Red46cbe1709f4a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006e9da16441ab"/>
  </p:sldMasterIdLst>
  <p:notesMasterIdLst>
    <p:notesMasterId xmlns:r="http://schemas.openxmlformats.org/officeDocument/2006/relationships" r:id="R210f73b631644feb"/>
  </p:notesMasterIdLst>
  <p:sldIdLst>
    <p:sldId xmlns:r="http://schemas.openxmlformats.org/officeDocument/2006/relationships" id="256" r:id="Reb5dace910f14635"/>
    <p:sldId xmlns:r="http://schemas.openxmlformats.org/officeDocument/2006/relationships" id="257" r:id="Rfab18a3e6049405a"/>
    <p:sldId xmlns:r="http://schemas.openxmlformats.org/officeDocument/2006/relationships" id="258" r:id="R3c1414f19b754a6c"/>
    <p:sldId xmlns:r="http://schemas.openxmlformats.org/officeDocument/2006/relationships" id="259" r:id="R4a44a96019ae4a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9aaf54837844a0" /><Relationship Type="http://schemas.openxmlformats.org/officeDocument/2006/relationships/slideMaster" Target="/ppt/slideMasters/slideMaster1.xml" Id="Re1006e9da16441ab" /><Relationship Type="http://schemas.openxmlformats.org/officeDocument/2006/relationships/notesMaster" Target="/ppt/notesMasters/notesMaster1.xml" Id="R210f73b631644feb" /><Relationship Type="http://schemas.openxmlformats.org/officeDocument/2006/relationships/presProps" Target="/ppt/presProps.xml" Id="Rdef31468cd7942db" /><Relationship Type="http://schemas.openxmlformats.org/officeDocument/2006/relationships/tableStyles" Target="/ppt/tableStyles.xml" Id="R15c2f5e343214c97" /><Relationship Type="http://schemas.openxmlformats.org/officeDocument/2006/relationships/slide" Target="/ppt/slides/slide1.xml" Id="Reb5dace910f14635" /><Relationship Type="http://schemas.openxmlformats.org/officeDocument/2006/relationships/slide" Target="/ppt/slides/slide2.xml" Id="Rfab18a3e6049405a" /><Relationship Type="http://schemas.openxmlformats.org/officeDocument/2006/relationships/slide" Target="/ppt/slides/slide3.xml" Id="R3c1414f19b754a6c" /><Relationship Type="http://schemas.openxmlformats.org/officeDocument/2006/relationships/slide" Target="/ppt/slides/slide4.xml" Id="R4a44a96019ae4a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378bf5ebfc4c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1d77081ef843b6" /><Relationship Type="http://schemas.openxmlformats.org/officeDocument/2006/relationships/notesMaster" Target="/ppt/notesMasters/notesMaster1.xml" Id="Rcff0f9505d7f47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4e86d24924290" /><Relationship Type="http://schemas.openxmlformats.org/officeDocument/2006/relationships/notesMaster" Target="/ppt/notesMasters/notesMaster1.xml" Id="R175606a3274e4e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2def7dc67d4e71" /><Relationship Type="http://schemas.openxmlformats.org/officeDocument/2006/relationships/notesMaster" Target="/ppt/notesMasters/notesMaster1.xml" Id="R475856dfb9cb4a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e3647bca40424d" /><Relationship Type="http://schemas.openxmlformats.org/officeDocument/2006/relationships/notesMaster" Target="/ppt/notesMasters/notesMaster1.xml" Id="Rcddb209a06364a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核心：框線建立分組，但不取代內容層級。</a:t>
            </a:r>
          </a:p>
          <a:p xmlns:a="http://schemas.openxmlformats.org/drawingml/2006/main">
            <a:r>
              <a:t>橋接：先用左右框比較完成與學習。</a:t>
            </a:r>
          </a:p>
          <a:p xmlns:a="http://schemas.openxmlformats.org/drawingml/2006/main">
            <a:r>
              <a:t>風險：不要讓每個框都使用相同粗細與顏色。</a:t>
            </a:r>
          </a:p>
          <a:p xmlns:a="http://schemas.openxmlformats.org/drawingml/2006/main">
            <a:r>
              <a:t>下一步：把同一套框線層級用在流程頁。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核心：流程框讓不同階段與證據一一對應。</a:t>
            </a:r>
          </a:p>
          <a:p xmlns:a="http://schemas.openxmlformats.org/drawingml/2006/main">
            <a:r>
              <a:t>橋接：從並列比較轉成連續歷程。</a:t>
            </a:r>
          </a:p>
          <a:p xmlns:a="http://schemas.openxmlformats.org/drawingml/2006/main">
            <a:r>
              <a:t>風險：不要用四個同樣醒目的橘框。</a:t>
            </a:r>
          </a:p>
          <a:p xmlns:a="http://schemas.openxmlformats.org/drawingml/2006/main">
            <a:r>
              <a:t>下一步：最後把流程收斂成三個判斷問題。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核心：核心框與子框要有清楚的上下層級。</a:t>
            </a:r>
          </a:p>
          <a:p xmlns:a="http://schemas.openxmlformats.org/drawingml/2006/main">
            <a:r>
              <a:t>橋接：把四步驟流程收斂成三個可操作的判斷。</a:t>
            </a:r>
          </a:p>
          <a:p xmlns:a="http://schemas.openxmlformats.org/drawingml/2006/main">
            <a:r>
              <a:t>風險：連線與框線都應退後，不能比核心問題更醒目。</a:t>
            </a:r>
          </a:p>
          <a:p xmlns:a="http://schemas.openxmlformats.org/drawingml/2006/main">
            <a:r>
              <a:t>下一步：由使用者判斷框線密度是否符合常用簡報。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核心：大字頁預設只承載一行可直接說出口的結論。</a:t>
            </a:r>
          </a:p>
          <a:p xmlns:a="http://schemas.openxmlformats.org/drawingml/2006/main">
            <a:r>
              <a:t>橋接：承接前三頁的框式結構，將所有判斷收斂成一句話。</a:t>
            </a:r>
          </a:p>
          <a:p xmlns:a="http://schemas.openxmlformats.org/drawingml/2006/main">
            <a:r>
              <a:t>風險：主句若需要兩行，先刪字或拆頁，不先縮小字級。</a:t>
            </a:r>
          </a:p>
          <a:p xmlns:a="http://schemas.openxmlformats.org/drawingml/2006/main">
            <a:r>
              <a:t>下一步：由使用者判斷框式頁與大字頁是否已形成同一套系統。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3c543f01043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79ae2f4e6448fe" /><Relationship Type="http://schemas.openxmlformats.org/officeDocument/2006/relationships/slideLayout" Target="/ppt/slideLayouts/slideLayout1.xml" Id="R635bb93d826c43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5bb93d826c43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83df492f54c17" /><Relationship Type="http://schemas.openxmlformats.org/officeDocument/2006/relationships/notesSlide" Target="/ppt/notesSlides/notesSlide1.xml" Id="R22cc78a3714444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0efe71e9f4681" /><Relationship Type="http://schemas.openxmlformats.org/officeDocument/2006/relationships/notesSlide" Target="/ppt/notesSlides/notesSlide2.xml" Id="R43c3fd63fee24f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949c7f7014347" /><Relationship Type="http://schemas.openxmlformats.org/officeDocument/2006/relationships/notesSlide" Target="/ppt/notesSlides/notesSlide3.xml" Id="Rca219de665fe48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200f62d4b473d" /><Relationship Type="http://schemas.openxmlformats.org/officeDocument/2006/relationships/notesSlide" Target="/ppt/notesSlides/notesSlide4.xml" Id="Rc36dbdc0c81947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B421C7CF-9FFD-4EB7-8323-65325071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完成任務，不等於學習發生</a:t>
            </a:r>
          </a:p>
        </p:txBody>
      </p:sp>
      <p:sp>
        <p:nvSpPr>
          <p:cNvPr id="2" name="left-group">
            <a:extLst xmlns:a="http://schemas.openxmlformats.org/drawingml/2006/main">
              <a:ext uri="{FF2B5EF4-FFF2-40B4-BE49-F238E27FC236}">
                <a16:creationId xmlns:a16="http://schemas.microsoft.com/office/drawing/2014/main" id="{F6CFC17B-D7F7-48E2-9299-585E6920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5000625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6666"/>
            </a:solidFill>
            <a:prstDash val="solid"/>
          </a:ln>
        </p:spPr>
      </p:sp>
      <p:sp>
        <p:nvSpPr>
          <p:cNvPr id="3" name="right-group">
            <a:extLst xmlns:a="http://schemas.openxmlformats.org/drawingml/2006/main">
              <a:ext uri="{FF2B5EF4-FFF2-40B4-BE49-F238E27FC236}">
                <a16:creationId xmlns:a16="http://schemas.microsoft.com/office/drawing/2014/main" id="{C64C550C-980A-4B3D-9315-F1222629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200150"/>
            <a:ext cx="5000625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4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CFA7FEF7-8333-4998-8933-3F9E7FF2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09700"/>
            <a:ext cx="433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66666"/>
                </a:solidFill>
              </a:defRPr>
            </a:pPr>
            <a:r>
              <a:rPr sz="2700" b="1">
                <a:solidFill>
                  <a:srgbClr val="666666"/>
                </a:solidFill>
              </a:rPr>
              <a:t>只看完成</a:t>
            </a:r>
          </a:p>
        </p:txBody>
      </p:sp>
      <p:sp>
        <p:nvSpPr>
          <p:cNvPr id="5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0EE70B98-8772-47E9-84EF-6D15940D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09700"/>
            <a:ext cx="433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看見學習</a:t>
            </a:r>
          </a:p>
        </p:txBody>
      </p:sp>
      <p:sp>
        <p:nvSpPr>
          <p:cNvPr id="6" name="left-heading-rule">
            <a:extLst xmlns:a="http://schemas.openxmlformats.org/drawingml/2006/main">
              <a:ext uri="{FF2B5EF4-FFF2-40B4-BE49-F238E27FC236}">
                <a16:creationId xmlns:a16="http://schemas.microsoft.com/office/drawing/2014/main" id="{557EAAE5-DF0C-4C98-ACAE-2AD06487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97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7" name="right-heading-rule">
            <a:extLst xmlns:a="http://schemas.openxmlformats.org/drawingml/2006/main">
              <a:ext uri="{FF2B5EF4-FFF2-40B4-BE49-F238E27FC236}">
                <a16:creationId xmlns:a16="http://schemas.microsoft.com/office/drawing/2014/main" id="{A10DFD58-9FCD-4D2A-8D65-BE97235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97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8" name="left-item-1-frame">
            <a:extLst xmlns:a="http://schemas.openxmlformats.org/drawingml/2006/main">
              <a:ext uri="{FF2B5EF4-FFF2-40B4-BE49-F238E27FC236}">
                <a16:creationId xmlns:a16="http://schemas.microsoft.com/office/drawing/2014/main" id="{40278B22-52C9-40C1-B276-2FB1912B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40481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9" name="left-item-1-text">
            <a:extLst xmlns:a="http://schemas.openxmlformats.org/drawingml/2006/main">
              <a:ext uri="{FF2B5EF4-FFF2-40B4-BE49-F238E27FC236}">
                <a16:creationId xmlns:a16="http://schemas.microsoft.com/office/drawing/2014/main" id="{F5166E7B-EC9B-4AF0-849E-D8CEA3C0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3819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66666"/>
                </a:solidFill>
              </a:defRPr>
            </a:pPr>
            <a:r>
              <a:rPr sz="2100" b="0">
                <a:solidFill>
                  <a:srgbClr val="666666"/>
                </a:solidFill>
              </a:rPr>
              <a:t>交出作業</a:t>
            </a:r>
          </a:p>
        </p:txBody>
      </p:sp>
      <p:sp>
        <p:nvSpPr>
          <p:cNvPr id="10" name="right-item-1-frame">
            <a:extLst xmlns:a="http://schemas.openxmlformats.org/drawingml/2006/main">
              <a:ext uri="{FF2B5EF4-FFF2-40B4-BE49-F238E27FC236}">
                <a16:creationId xmlns:a16="http://schemas.microsoft.com/office/drawing/2014/main" id="{433C5D28-33C5-4C42-8A9E-46BA5B60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24100"/>
            <a:ext cx="40481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11" name="right-item-1-text">
            <a:extLst xmlns:a="http://schemas.openxmlformats.org/drawingml/2006/main">
              <a:ext uri="{FF2B5EF4-FFF2-40B4-BE49-F238E27FC236}">
                <a16:creationId xmlns:a16="http://schemas.microsoft.com/office/drawing/2014/main" id="{9C54DA8F-559A-49C4-8261-EDD4625F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62200"/>
            <a:ext cx="3819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說明理由</a:t>
            </a:r>
          </a:p>
        </p:txBody>
      </p:sp>
      <p:sp>
        <p:nvSpPr>
          <p:cNvPr id="12" name="left-item-2-frame">
            <a:extLst xmlns:a="http://schemas.openxmlformats.org/drawingml/2006/main">
              <a:ext uri="{FF2B5EF4-FFF2-40B4-BE49-F238E27FC236}">
                <a16:creationId xmlns:a16="http://schemas.microsoft.com/office/drawing/2014/main" id="{2BD6414C-6874-46C8-8A33-7B7AB25D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40481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13" name="left-item-2-text">
            <a:extLst xmlns:a="http://schemas.openxmlformats.org/drawingml/2006/main">
              <a:ext uri="{FF2B5EF4-FFF2-40B4-BE49-F238E27FC236}">
                <a16:creationId xmlns:a16="http://schemas.microsoft.com/office/drawing/2014/main" id="{1CDF374E-EC6C-4374-8CAB-25FA57C7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48025"/>
            <a:ext cx="3819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66666"/>
                </a:solidFill>
              </a:defRPr>
            </a:pPr>
            <a:r>
              <a:rPr sz="2100" b="0">
                <a:solidFill>
                  <a:srgbClr val="666666"/>
                </a:solidFill>
              </a:rPr>
              <a:t>答對題目</a:t>
            </a:r>
          </a:p>
        </p:txBody>
      </p:sp>
      <p:sp>
        <p:nvSpPr>
          <p:cNvPr id="14" name="right-item-2-frame">
            <a:extLst xmlns:a="http://schemas.openxmlformats.org/drawingml/2006/main">
              <a:ext uri="{FF2B5EF4-FFF2-40B4-BE49-F238E27FC236}">
                <a16:creationId xmlns:a16="http://schemas.microsoft.com/office/drawing/2014/main" id="{550E0754-0EDD-4752-8657-C6FEE733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09925"/>
            <a:ext cx="40481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15" name="right-item-2-text">
            <a:extLst xmlns:a="http://schemas.openxmlformats.org/drawingml/2006/main">
              <a:ext uri="{FF2B5EF4-FFF2-40B4-BE49-F238E27FC236}">
                <a16:creationId xmlns:a16="http://schemas.microsoft.com/office/drawing/2014/main" id="{87A2CA0B-C24C-467E-ACA5-1E088AFC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48025"/>
            <a:ext cx="3819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重新組織</a:t>
            </a:r>
          </a:p>
        </p:txBody>
      </p:sp>
      <p:sp>
        <p:nvSpPr>
          <p:cNvPr id="16" name="left-item-3-frame">
            <a:extLst xmlns:a="http://schemas.openxmlformats.org/drawingml/2006/main">
              <a:ext uri="{FF2B5EF4-FFF2-40B4-BE49-F238E27FC236}">
                <a16:creationId xmlns:a16="http://schemas.microsoft.com/office/drawing/2014/main" id="{00F0817A-9BFD-49AF-9C54-4A17179B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40481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17" name="left-item-3-text">
            <a:extLst xmlns:a="http://schemas.openxmlformats.org/drawingml/2006/main">
              <a:ext uri="{FF2B5EF4-FFF2-40B4-BE49-F238E27FC236}">
                <a16:creationId xmlns:a16="http://schemas.microsoft.com/office/drawing/2014/main" id="{11A46580-A156-478E-B35B-06CD2567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3819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666666"/>
                </a:solidFill>
              </a:defRPr>
            </a:pPr>
            <a:r>
              <a:rPr sz="2100" b="0">
                <a:solidFill>
                  <a:srgbClr val="666666"/>
                </a:solidFill>
              </a:rPr>
              <a:t>跟著步驟</a:t>
            </a:r>
          </a:p>
        </p:txBody>
      </p:sp>
      <p:sp>
        <p:nvSpPr>
          <p:cNvPr id="18" name="right-item-3-frame">
            <a:extLst xmlns:a="http://schemas.openxmlformats.org/drawingml/2006/main">
              <a:ext uri="{FF2B5EF4-FFF2-40B4-BE49-F238E27FC236}">
                <a16:creationId xmlns:a16="http://schemas.microsoft.com/office/drawing/2014/main" id="{B8253D88-2CCC-4A87-BE7E-2E458DDD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95750"/>
            <a:ext cx="404812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5230"/>
            </a:solidFill>
            <a:prstDash val="solid"/>
          </a:ln>
        </p:spPr>
      </p:sp>
      <p:sp>
        <p:nvSpPr>
          <p:cNvPr id="19" name="right-item-3-text">
            <a:extLst xmlns:a="http://schemas.openxmlformats.org/drawingml/2006/main">
              <a:ext uri="{FF2B5EF4-FFF2-40B4-BE49-F238E27FC236}">
                <a16:creationId xmlns:a16="http://schemas.microsoft.com/office/drawing/2014/main" id="{A97D6D25-CE81-47E8-AECD-5998F368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133850"/>
            <a:ext cx="3819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35230"/>
                </a:solidFill>
              </a:defRPr>
            </a:pPr>
            <a:r>
              <a:rPr sz="2100" b="1">
                <a:solidFill>
                  <a:srgbClr val="D35230"/>
                </a:solidFill>
              </a:rPr>
              <a:t>換境應用</a:t>
            </a:r>
          </a:p>
        </p:txBody>
      </p:sp>
      <p:sp>
        <p:nvSpPr>
          <p:cNvPr id="20" name="comparison-operator">
            <a:extLst xmlns:a="http://schemas.openxmlformats.org/drawingml/2006/main">
              <a:ext uri="{FF2B5EF4-FFF2-40B4-BE49-F238E27FC236}">
                <a16:creationId xmlns:a16="http://schemas.microsoft.com/office/drawing/2014/main" id="{9069B592-7F9C-410B-AFE9-C6E05E38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666666"/>
                </a:solidFill>
              </a:defRPr>
            </a:pPr>
            <a:r>
              <a:rPr sz="4350" b="1">
                <a:solidFill>
                  <a:srgbClr val="666666"/>
                </a:solidFill>
              </a:rPr>
              <a:t>≠</a:t>
            </a:r>
          </a:p>
        </p:txBody>
      </p:sp>
      <p:sp>
        <p:nvSpPr>
          <p:cNvPr id="21" name="page-meta">
            <a:extLst xmlns:a="http://schemas.openxmlformats.org/drawingml/2006/main">
              <a:ext uri="{FF2B5EF4-FFF2-40B4-BE49-F238E27FC236}">
                <a16:creationId xmlns:a16="http://schemas.microsoft.com/office/drawing/2014/main" id="{744FB950-400E-4145-9031-0109B65E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比較 · 01</a:t>
            </a:r>
          </a:p>
        </p:txBody>
      </p:sp>
    </p:spTree>
    <p:extLst>
      <p:ext uri="{BB962C8B-B14F-4D97-AF65-F5344CB8AC3E}">
        <p14:creationId xmlns:p14="http://schemas.microsoft.com/office/powerpoint/2010/main" val="1823308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">
            <a:extLst xmlns:a="http://schemas.openxmlformats.org/drawingml/2006/main">
              <a:ext uri="{FF2B5EF4-FFF2-40B4-BE49-F238E27FC236}">
                <a16:creationId xmlns:a16="http://schemas.microsoft.com/office/drawing/2014/main" id="{2DEFF914-B130-417D-92C4-99704D92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理解要經過四個可辨認的步驟</a:t>
            </a:r>
          </a:p>
        </p:txBody>
      </p:sp>
      <p:sp>
        <p:nvSpPr>
          <p:cNvPr id="2" name="arrow-1">
            <a:extLst xmlns:a="http://schemas.openxmlformats.org/drawingml/2006/main">
              <a:ext uri="{FF2B5EF4-FFF2-40B4-BE49-F238E27FC236}">
                <a16:creationId xmlns:a16="http://schemas.microsoft.com/office/drawing/2014/main" id="{0CA289EB-9AE9-4136-8CCE-21E3EA30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146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66666"/>
                </a:solidFill>
              </a:defRPr>
            </a:pPr>
            <a:r>
              <a:rPr sz="30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3" name="arrow-2">
            <a:extLst xmlns:a="http://schemas.openxmlformats.org/drawingml/2006/main">
              <a:ext uri="{FF2B5EF4-FFF2-40B4-BE49-F238E27FC236}">
                <a16:creationId xmlns:a16="http://schemas.microsoft.com/office/drawing/2014/main" id="{01D0F469-EE84-4F78-AD7E-15980860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146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66666"/>
                </a:solidFill>
              </a:defRPr>
            </a:pPr>
            <a:r>
              <a:rPr sz="30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4" name="arrow-3">
            <a:extLst xmlns:a="http://schemas.openxmlformats.org/drawingml/2006/main">
              <a:ext uri="{FF2B5EF4-FFF2-40B4-BE49-F238E27FC236}">
                <a16:creationId xmlns:a16="http://schemas.microsoft.com/office/drawing/2014/main" id="{C223C30A-9F07-4F03-A6FC-E2595EDD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146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66666"/>
                </a:solidFill>
              </a:defRPr>
            </a:pPr>
            <a:r>
              <a:rPr sz="30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5" name="step-1-frame">
            <a:extLst xmlns:a="http://schemas.openxmlformats.org/drawingml/2006/main">
              <a:ext uri="{FF2B5EF4-FFF2-40B4-BE49-F238E27FC236}">
                <a16:creationId xmlns:a16="http://schemas.microsoft.com/office/drawing/2014/main" id="{17002F74-8A0A-4E39-A9A8-CDA2DEBB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2333625" cy="26479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DDBF33AD-13E5-491F-BC83-145C8916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6666"/>
                </a:solidFill>
              </a:defRPr>
            </a:pPr>
            <a:r>
              <a:rPr sz="1800" b="1">
                <a:solidFill>
                  <a:srgbClr val="666666"/>
                </a:solidFill>
              </a:rPr>
              <a:t>01</a:t>
            </a:r>
          </a:p>
        </p:txBody>
      </p:sp>
      <p:sp>
        <p:nvSpPr>
          <p:cNvPr id="7" name="step-1-heading">
            <a:extLst xmlns:a="http://schemas.openxmlformats.org/drawingml/2006/main">
              <a:ext uri="{FF2B5EF4-FFF2-40B4-BE49-F238E27FC236}">
                <a16:creationId xmlns:a16="http://schemas.microsoft.com/office/drawing/2014/main" id="{3242B2B5-7D8B-4E54-93CA-F5068710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投入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38DFEF41-F3D8-4049-930C-5CA8DA15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9" name="step-1-detail-frame">
            <a:extLst xmlns:a="http://schemas.openxmlformats.org/drawingml/2006/main">
              <a:ext uri="{FF2B5EF4-FFF2-40B4-BE49-F238E27FC236}">
                <a16:creationId xmlns:a16="http://schemas.microsoft.com/office/drawing/2014/main" id="{9B682B4A-1E24-44E0-9710-F91F557F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9526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10" name="step-1-detail-text">
            <a:extLst xmlns:a="http://schemas.openxmlformats.org/drawingml/2006/main">
              <a:ext uri="{FF2B5EF4-FFF2-40B4-BE49-F238E27FC236}">
                <a16:creationId xmlns:a16="http://schemas.microsoft.com/office/drawing/2014/main" id="{47D1B8F3-0EBC-4AB5-83A4-5CC4C7E8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72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願意進入任務</a:t>
            </a:r>
          </a:p>
        </p:txBody>
      </p:sp>
      <p:sp>
        <p:nvSpPr>
          <p:cNvPr id="11" name="step-2-frame">
            <a:extLst xmlns:a="http://schemas.openxmlformats.org/drawingml/2006/main">
              <a:ext uri="{FF2B5EF4-FFF2-40B4-BE49-F238E27FC236}">
                <a16:creationId xmlns:a16="http://schemas.microsoft.com/office/drawing/2014/main" id="{B232E92E-8569-4298-A19F-8F1FC160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2333625" cy="26479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DDDF2BE9-5FA0-43BC-B65A-3E250B12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6666"/>
                </a:solidFill>
              </a:defRPr>
            </a:pPr>
            <a:r>
              <a:rPr sz="1800" b="1">
                <a:solidFill>
                  <a:srgbClr val="666666"/>
                </a:solidFill>
              </a:rPr>
              <a:t>02</a:t>
            </a:r>
          </a:p>
        </p:txBody>
      </p:sp>
      <p:sp>
        <p:nvSpPr>
          <p:cNvPr id="13" name="step-2-heading">
            <a:extLst xmlns:a="http://schemas.openxmlformats.org/drawingml/2006/main">
              <a:ext uri="{FF2B5EF4-FFF2-40B4-BE49-F238E27FC236}">
                <a16:creationId xmlns:a16="http://schemas.microsoft.com/office/drawing/2014/main" id="{BD1CC5D3-31F4-4F0C-8891-8531C30D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7907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理解</a:t>
            </a:r>
          </a:p>
        </p:txBody>
      </p:sp>
      <p:sp>
        <p:nvSpPr>
          <p:cNvPr id="14" name="step-2-rule">
            <a:extLst xmlns:a="http://schemas.openxmlformats.org/drawingml/2006/main">
              <a:ext uri="{FF2B5EF4-FFF2-40B4-BE49-F238E27FC236}">
                <a16:creationId xmlns:a16="http://schemas.microsoft.com/office/drawing/2014/main" id="{B5D74505-EE2B-4202-835C-4B0B392B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982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15" name="step-2-detail-frame">
            <a:extLst xmlns:a="http://schemas.openxmlformats.org/drawingml/2006/main">
              <a:ext uri="{FF2B5EF4-FFF2-40B4-BE49-F238E27FC236}">
                <a16:creationId xmlns:a16="http://schemas.microsoft.com/office/drawing/2014/main" id="{88AB9EA3-7E02-4617-863A-9FBCA782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24150"/>
            <a:ext cx="19526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16" name="step-2-detail-text">
            <a:extLst xmlns:a="http://schemas.openxmlformats.org/drawingml/2006/main">
              <a:ext uri="{FF2B5EF4-FFF2-40B4-BE49-F238E27FC236}">
                <a16:creationId xmlns:a16="http://schemas.microsoft.com/office/drawing/2014/main" id="{04D54AF9-92B3-4E37-AD55-B98E3C43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62250"/>
            <a:ext cx="172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說得出理由</a:t>
            </a:r>
          </a:p>
        </p:txBody>
      </p:sp>
      <p:sp>
        <p:nvSpPr>
          <p:cNvPr id="17" name="step-3-frame">
            <a:extLst xmlns:a="http://schemas.openxmlformats.org/drawingml/2006/main">
              <a:ext uri="{FF2B5EF4-FFF2-40B4-BE49-F238E27FC236}">
                <a16:creationId xmlns:a16="http://schemas.microsoft.com/office/drawing/2014/main" id="{88626DF6-0BDF-4671-87A9-FA0A5127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2333625" cy="26479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8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3C8498C9-02AA-4AF8-807A-A5D1E931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6666"/>
                </a:solidFill>
              </a:defRPr>
            </a:pPr>
            <a:r>
              <a:rPr sz="1800" b="1">
                <a:solidFill>
                  <a:srgbClr val="666666"/>
                </a:solidFill>
              </a:rPr>
              <a:t>03</a:t>
            </a:r>
          </a:p>
        </p:txBody>
      </p:sp>
      <p:sp>
        <p:nvSpPr>
          <p:cNvPr id="19" name="step-3-heading">
            <a:extLst xmlns:a="http://schemas.openxmlformats.org/drawingml/2006/main">
              <a:ext uri="{FF2B5EF4-FFF2-40B4-BE49-F238E27FC236}">
                <a16:creationId xmlns:a16="http://schemas.microsoft.com/office/drawing/2014/main" id="{6E04E78B-6C07-4096-B597-C0BAFE63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提取</a:t>
            </a:r>
          </a:p>
        </p:txBody>
      </p:sp>
      <p:sp>
        <p:nvSpPr>
          <p:cNvPr id="20" name="step-3-rule">
            <a:extLst xmlns:a="http://schemas.openxmlformats.org/drawingml/2006/main">
              <a:ext uri="{FF2B5EF4-FFF2-40B4-BE49-F238E27FC236}">
                <a16:creationId xmlns:a16="http://schemas.microsoft.com/office/drawing/2014/main" id="{4929897D-CFEC-4996-8CBD-9E49CD8C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982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21" name="step-3-detail-frame">
            <a:extLst xmlns:a="http://schemas.openxmlformats.org/drawingml/2006/main">
              <a:ext uri="{FF2B5EF4-FFF2-40B4-BE49-F238E27FC236}">
                <a16:creationId xmlns:a16="http://schemas.microsoft.com/office/drawing/2014/main" id="{CC8FB9F7-647A-4BA2-9233-5DE96FEE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19526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2" name="step-3-detail-text">
            <a:extLst xmlns:a="http://schemas.openxmlformats.org/drawingml/2006/main">
              <a:ext uri="{FF2B5EF4-FFF2-40B4-BE49-F238E27FC236}">
                <a16:creationId xmlns:a16="http://schemas.microsoft.com/office/drawing/2014/main" id="{CED320ED-F77B-4A26-A762-44CF5E08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62250"/>
            <a:ext cx="172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離開提示仍記得</a:t>
            </a:r>
          </a:p>
        </p:txBody>
      </p:sp>
      <p:sp>
        <p:nvSpPr>
          <p:cNvPr id="23" name="step-4-frame">
            <a:extLst xmlns:a="http://schemas.openxmlformats.org/drawingml/2006/main">
              <a:ext uri="{FF2B5EF4-FFF2-40B4-BE49-F238E27FC236}">
                <a16:creationId xmlns:a16="http://schemas.microsoft.com/office/drawing/2014/main" id="{929879B3-038B-41C3-A307-A2829FC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76400"/>
            <a:ext cx="2333625" cy="26479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D35230"/>
            </a:solidFill>
            <a:prstDash val="solid"/>
          </a:ln>
        </p:spPr>
      </p:sp>
      <p:sp>
        <p:nvSpPr>
          <p:cNvPr id="24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8F45127-BA10-42F5-8E32-B26CC346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47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35230"/>
                </a:solidFill>
              </a:defRPr>
            </a:pPr>
            <a:r>
              <a:rPr sz="1800" b="1">
                <a:solidFill>
                  <a:srgbClr val="D35230"/>
                </a:solidFill>
              </a:rPr>
              <a:t>04</a:t>
            </a:r>
          </a:p>
        </p:txBody>
      </p:sp>
      <p:sp>
        <p:nvSpPr>
          <p:cNvPr id="25" name="step-4-heading">
            <a:extLst xmlns:a="http://schemas.openxmlformats.org/drawingml/2006/main">
              <a:ext uri="{FF2B5EF4-FFF2-40B4-BE49-F238E27FC236}">
                <a16:creationId xmlns:a16="http://schemas.microsoft.com/office/drawing/2014/main" id="{4425427F-2B0D-4274-9BCB-D68BCE85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790700"/>
            <a:ext cx="138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35230"/>
                </a:solidFill>
              </a:defRPr>
            </a:pPr>
            <a:r>
              <a:rPr sz="2700" b="1">
                <a:solidFill>
                  <a:srgbClr val="D35230"/>
                </a:solidFill>
              </a:rPr>
              <a:t>遷移</a:t>
            </a:r>
          </a:p>
        </p:txBody>
      </p:sp>
      <p:sp>
        <p:nvSpPr>
          <p:cNvPr id="26" name="step-4-rule">
            <a:extLst xmlns:a="http://schemas.openxmlformats.org/drawingml/2006/main">
              <a:ext uri="{FF2B5EF4-FFF2-40B4-BE49-F238E27FC236}">
                <a16:creationId xmlns:a16="http://schemas.microsoft.com/office/drawing/2014/main" id="{D2EEDB07-9933-489E-B401-021452A3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0982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27" name="step-4-detail-frame">
            <a:extLst xmlns:a="http://schemas.openxmlformats.org/drawingml/2006/main">
              <a:ext uri="{FF2B5EF4-FFF2-40B4-BE49-F238E27FC236}">
                <a16:creationId xmlns:a16="http://schemas.microsoft.com/office/drawing/2014/main" id="{72231867-E9C3-448D-9DB6-D95E507A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24150"/>
            <a:ext cx="19526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8" name="step-4-detail-text">
            <a:extLst xmlns:a="http://schemas.openxmlformats.org/drawingml/2006/main">
              <a:ext uri="{FF2B5EF4-FFF2-40B4-BE49-F238E27FC236}">
                <a16:creationId xmlns:a16="http://schemas.microsoft.com/office/drawing/2014/main" id="{A914873D-B94C-4F1C-8D57-1CE2703F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62250"/>
            <a:ext cx="1724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35230"/>
                </a:solidFill>
              </a:defRPr>
            </a:pPr>
            <a:r>
              <a:rPr sz="2025" b="1">
                <a:solidFill>
                  <a:srgbClr val="D35230"/>
                </a:solidFill>
              </a:rPr>
              <a:t>換境使用</a:t>
            </a:r>
          </a:p>
        </p:txBody>
      </p:sp>
      <p:sp>
        <p:nvSpPr>
          <p:cNvPr id="29" name="process-summary-frame">
            <a:extLst xmlns:a="http://schemas.openxmlformats.org/drawingml/2006/main">
              <a:ext uri="{FF2B5EF4-FFF2-40B4-BE49-F238E27FC236}">
                <a16:creationId xmlns:a16="http://schemas.microsoft.com/office/drawing/2014/main" id="{29AD6282-3335-4378-9982-63C4FEAB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3D3D3"/>
            </a:solidFill>
            <a:prstDash val="solid"/>
          </a:ln>
        </p:spPr>
      </p:sp>
      <p:sp>
        <p:nvSpPr>
          <p:cNvPr id="30" name="process-summary">
            <a:extLst xmlns:a="http://schemas.openxmlformats.org/drawingml/2006/main">
              <a:ext uri="{FF2B5EF4-FFF2-40B4-BE49-F238E27FC236}">
                <a16:creationId xmlns:a16="http://schemas.microsoft.com/office/drawing/2014/main" id="{A2632AE2-FC1E-476A-958D-3E1C71AF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3870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每一步，都要看到不同的學習證據</a:t>
            </a:r>
          </a:p>
        </p:txBody>
      </p:sp>
      <p:sp>
        <p:nvSpPr>
          <p:cNvPr id="31" name="page-meta">
            <a:extLst xmlns:a="http://schemas.openxmlformats.org/drawingml/2006/main">
              <a:ext uri="{FF2B5EF4-FFF2-40B4-BE49-F238E27FC236}">
                <a16:creationId xmlns:a16="http://schemas.microsoft.com/office/drawing/2014/main" id="{14A39D3E-BF65-49C9-85C5-9A784583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流程 · 02</a:t>
            </a:r>
          </a:p>
        </p:txBody>
      </p:sp>
    </p:spTree>
    <p:extLst>
      <p:ext uri="{BB962C8B-B14F-4D97-AF65-F5344CB8AC3E}">
        <p14:creationId xmlns:p14="http://schemas.microsoft.com/office/powerpoint/2010/main" val="2072514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3A613325-A4AE-4466-8894-02717301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把教學判斷收斂成三個問題</a:t>
            </a:r>
          </a:p>
        </p:txBody>
      </p:sp>
      <p:sp>
        <p:nvSpPr>
          <p:cNvPr id="2" name="connector-stem">
            <a:extLst xmlns:a="http://schemas.openxmlformats.org/drawingml/2006/main">
              <a:ext uri="{FF2B5EF4-FFF2-40B4-BE49-F238E27FC236}">
                <a16:creationId xmlns:a16="http://schemas.microsoft.com/office/drawing/2014/main" id="{0898123E-1F5E-47D0-A708-D8D90122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38350"/>
            <a:ext cx="19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3" name="connector-branch">
            <a:extLst xmlns:a="http://schemas.openxmlformats.org/drawingml/2006/main">
              <a:ext uri="{FF2B5EF4-FFF2-40B4-BE49-F238E27FC236}">
                <a16:creationId xmlns:a16="http://schemas.microsoft.com/office/drawing/2014/main" id="{9568DF66-83B7-432F-A5E8-63C9A870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622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4" name="connector-child-1">
            <a:extLst xmlns:a="http://schemas.openxmlformats.org/drawingml/2006/main">
              <a:ext uri="{FF2B5EF4-FFF2-40B4-BE49-F238E27FC236}">
                <a16:creationId xmlns:a16="http://schemas.microsoft.com/office/drawing/2014/main" id="{04824076-755F-46A6-8050-9AE4BCD6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622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5" name="connector-child-2">
            <a:extLst xmlns:a="http://schemas.openxmlformats.org/drawingml/2006/main">
              <a:ext uri="{FF2B5EF4-FFF2-40B4-BE49-F238E27FC236}">
                <a16:creationId xmlns:a16="http://schemas.microsoft.com/office/drawing/2014/main" id="{39DED3D2-FBB7-4A6E-8C3D-8D889C59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6" name="connector-child-3">
            <a:extLst xmlns:a="http://schemas.openxmlformats.org/drawingml/2006/main">
              <a:ext uri="{FF2B5EF4-FFF2-40B4-BE49-F238E27FC236}">
                <a16:creationId xmlns:a16="http://schemas.microsoft.com/office/drawing/2014/main" id="{B386A30C-A108-4F72-AEDC-FE34D6AF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622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7" name="core-question-frame">
            <a:extLst xmlns:a="http://schemas.openxmlformats.org/drawingml/2006/main">
              <a:ext uri="{FF2B5EF4-FFF2-40B4-BE49-F238E27FC236}">
                <a16:creationId xmlns:a16="http://schemas.microsoft.com/office/drawing/2014/main" id="{BF24FFEC-9945-4260-969F-8344BDEA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81100"/>
            <a:ext cx="542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D35230"/>
            </a:solidFill>
            <a:prstDash val="solid"/>
          </a:ln>
        </p:spPr>
      </p:sp>
      <p:sp>
        <p:nvSpPr>
          <p:cNvPr id="8" name="core-question">
            <a:extLst xmlns:a="http://schemas.openxmlformats.org/drawingml/2006/main">
              <a:ext uri="{FF2B5EF4-FFF2-40B4-BE49-F238E27FC236}">
                <a16:creationId xmlns:a16="http://schemas.microsoft.com/office/drawing/2014/main" id="{4E572129-2A8B-4818-9459-7E1CEE55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763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5230"/>
                </a:solidFill>
              </a:defRPr>
            </a:pPr>
            <a:r>
              <a:rPr sz="3000" b="1">
                <a:solidFill>
                  <a:srgbClr val="D35230"/>
                </a:solidFill>
              </a:rPr>
              <a:t>學習真的發生了嗎？</a:t>
            </a:r>
          </a:p>
        </p:txBody>
      </p:sp>
      <p:sp>
        <p:nvSpPr>
          <p:cNvPr id="9" name="judgment-1-frame">
            <a:extLst xmlns:a="http://schemas.openxmlformats.org/drawingml/2006/main">
              <a:ext uri="{FF2B5EF4-FFF2-40B4-BE49-F238E27FC236}">
                <a16:creationId xmlns:a16="http://schemas.microsoft.com/office/drawing/2014/main" id="{710AE06C-9784-4327-BC02-167F942E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" name="judgment-1-heading">
            <a:extLst xmlns:a="http://schemas.openxmlformats.org/drawingml/2006/main">
              <a:ext uri="{FF2B5EF4-FFF2-40B4-BE49-F238E27FC236}">
                <a16:creationId xmlns:a16="http://schemas.microsoft.com/office/drawing/2014/main" id="{0237C861-17E2-45C3-9E9E-EF985C77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05175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能說明</a:t>
            </a:r>
          </a:p>
        </p:txBody>
      </p:sp>
      <p:sp>
        <p:nvSpPr>
          <p:cNvPr id="11" name="judgment-1-rule">
            <a:extLst xmlns:a="http://schemas.openxmlformats.org/drawingml/2006/main">
              <a:ext uri="{FF2B5EF4-FFF2-40B4-BE49-F238E27FC236}">
                <a16:creationId xmlns:a16="http://schemas.microsoft.com/office/drawing/2014/main" id="{7134B854-218F-4966-A456-13ED3454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76675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12" name="judgment-1-first-frame">
            <a:extLst xmlns:a="http://schemas.openxmlformats.org/drawingml/2006/main">
              <a:ext uri="{FF2B5EF4-FFF2-40B4-BE49-F238E27FC236}">
                <a16:creationId xmlns:a16="http://schemas.microsoft.com/office/drawing/2014/main" id="{5A2B7C9B-E393-4D5B-BD7B-9FD18997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957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13" name="judgment-1-first-text">
            <a:extLst xmlns:a="http://schemas.openxmlformats.org/drawingml/2006/main">
              <a:ext uri="{FF2B5EF4-FFF2-40B4-BE49-F238E27FC236}">
                <a16:creationId xmlns:a16="http://schemas.microsoft.com/office/drawing/2014/main" id="{0BFCD77C-82C0-4A9F-9111-E37BF2F7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133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說出理由</a:t>
            </a:r>
          </a:p>
        </p:txBody>
      </p:sp>
      <p:sp>
        <p:nvSpPr>
          <p:cNvPr id="14" name="judgment-1-second-frame">
            <a:extLst xmlns:a="http://schemas.openxmlformats.org/drawingml/2006/main">
              <a:ext uri="{FF2B5EF4-FFF2-40B4-BE49-F238E27FC236}">
                <a16:creationId xmlns:a16="http://schemas.microsoft.com/office/drawing/2014/main" id="{556DF055-E115-4261-96A8-1ECA82C2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14875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15" name="judgment-1-second-text">
            <a:extLst xmlns:a="http://schemas.openxmlformats.org/drawingml/2006/main">
              <a:ext uri="{FF2B5EF4-FFF2-40B4-BE49-F238E27FC236}">
                <a16:creationId xmlns:a16="http://schemas.microsoft.com/office/drawing/2014/main" id="{451509FB-4246-4CCD-925C-134D33E2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7529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連結概念</a:t>
            </a:r>
          </a:p>
        </p:txBody>
      </p:sp>
      <p:sp>
        <p:nvSpPr>
          <p:cNvPr id="16" name="judgment-2-frame">
            <a:extLst xmlns:a="http://schemas.openxmlformats.org/drawingml/2006/main">
              <a:ext uri="{FF2B5EF4-FFF2-40B4-BE49-F238E27FC236}">
                <a16:creationId xmlns:a16="http://schemas.microsoft.com/office/drawing/2014/main" id="{44204806-BDD3-4333-803A-029F4470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2420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7" name="judgment-2-heading">
            <a:extLst xmlns:a="http://schemas.openxmlformats.org/drawingml/2006/main">
              <a:ext uri="{FF2B5EF4-FFF2-40B4-BE49-F238E27FC236}">
                <a16:creationId xmlns:a16="http://schemas.microsoft.com/office/drawing/2014/main" id="{572F2B18-661D-49D1-AA7D-EA1AF6EF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05175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能重組</a:t>
            </a:r>
          </a:p>
        </p:txBody>
      </p:sp>
      <p:sp>
        <p:nvSpPr>
          <p:cNvPr id="18" name="judgment-2-rule">
            <a:extLst xmlns:a="http://schemas.openxmlformats.org/drawingml/2006/main">
              <a:ext uri="{FF2B5EF4-FFF2-40B4-BE49-F238E27FC236}">
                <a16:creationId xmlns:a16="http://schemas.microsoft.com/office/drawing/2014/main" id="{16D02646-97F6-4E89-BEF3-D63064F9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76675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19" name="judgment-2-first-frame">
            <a:extLst xmlns:a="http://schemas.openxmlformats.org/drawingml/2006/main">
              <a:ext uri="{FF2B5EF4-FFF2-40B4-BE49-F238E27FC236}">
                <a16:creationId xmlns:a16="http://schemas.microsoft.com/office/drawing/2014/main" id="{B1AD9A43-683B-473D-A304-3A4E9DBF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0" name="judgment-2-first-text">
            <a:extLst xmlns:a="http://schemas.openxmlformats.org/drawingml/2006/main">
              <a:ext uri="{FF2B5EF4-FFF2-40B4-BE49-F238E27FC236}">
                <a16:creationId xmlns:a16="http://schemas.microsoft.com/office/drawing/2014/main" id="{EB346BC7-AE3D-4B8A-B297-B6362E65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33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換句話說</a:t>
            </a:r>
          </a:p>
        </p:txBody>
      </p:sp>
      <p:sp>
        <p:nvSpPr>
          <p:cNvPr id="21" name="judgment-2-second-frame">
            <a:extLst xmlns:a="http://schemas.openxmlformats.org/drawingml/2006/main">
              <a:ext uri="{FF2B5EF4-FFF2-40B4-BE49-F238E27FC236}">
                <a16:creationId xmlns:a16="http://schemas.microsoft.com/office/drawing/2014/main" id="{C0F4EB90-25CA-41E1-82BA-13745D72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14875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2" name="judgment-2-second-text">
            <a:extLst xmlns:a="http://schemas.openxmlformats.org/drawingml/2006/main">
              <a:ext uri="{FF2B5EF4-FFF2-40B4-BE49-F238E27FC236}">
                <a16:creationId xmlns:a16="http://schemas.microsoft.com/office/drawing/2014/main" id="{B9D538AA-75BC-467A-8DE4-75F7EA5C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529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建立結構</a:t>
            </a:r>
          </a:p>
        </p:txBody>
      </p:sp>
      <p:sp>
        <p:nvSpPr>
          <p:cNvPr id="23" name="judgment-3-frame">
            <a:extLst xmlns:a="http://schemas.openxmlformats.org/drawingml/2006/main">
              <a:ext uri="{FF2B5EF4-FFF2-40B4-BE49-F238E27FC236}">
                <a16:creationId xmlns:a16="http://schemas.microsoft.com/office/drawing/2014/main" id="{D8182F2A-0D89-45E1-8693-819187EF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4" name="judgment-3-heading">
            <a:extLst xmlns:a="http://schemas.openxmlformats.org/drawingml/2006/main">
              <a:ext uri="{FF2B5EF4-FFF2-40B4-BE49-F238E27FC236}">
                <a16:creationId xmlns:a16="http://schemas.microsoft.com/office/drawing/2014/main" id="{449C15B0-C303-4B86-B2A0-C6CA5A7B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05175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能遷移</a:t>
            </a:r>
          </a:p>
        </p:txBody>
      </p:sp>
      <p:sp>
        <p:nvSpPr>
          <p:cNvPr id="25" name="judgment-3-rule">
            <a:extLst xmlns:a="http://schemas.openxmlformats.org/drawingml/2006/main">
              <a:ext uri="{FF2B5EF4-FFF2-40B4-BE49-F238E27FC236}">
                <a16:creationId xmlns:a16="http://schemas.microsoft.com/office/drawing/2014/main" id="{7F4055A6-A4D5-4EC6-8651-A101CA0F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76675"/>
            <a:ext cx="260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D3"/>
          </a:solidFill>
          <a:ln xmlns:a="http://schemas.openxmlformats.org/drawingml/2006/main" w="0">
            <a:solidFill>
              <a:srgbClr val="D3D3D3"/>
            </a:solidFill>
            <a:prstDash val="solid"/>
          </a:ln>
        </p:spPr>
      </p:sp>
      <p:sp>
        <p:nvSpPr>
          <p:cNvPr id="26" name="judgment-3-first-frame">
            <a:extLst xmlns:a="http://schemas.openxmlformats.org/drawingml/2006/main">
              <a:ext uri="{FF2B5EF4-FFF2-40B4-BE49-F238E27FC236}">
                <a16:creationId xmlns:a16="http://schemas.microsoft.com/office/drawing/2014/main" id="{F223BC55-2741-48CC-8DCC-2E671D5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957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7" name="judgment-3-first-text">
            <a:extLst xmlns:a="http://schemas.openxmlformats.org/drawingml/2006/main">
              <a:ext uri="{FF2B5EF4-FFF2-40B4-BE49-F238E27FC236}">
                <a16:creationId xmlns:a16="http://schemas.microsoft.com/office/drawing/2014/main" id="{EC3D4A38-EA30-4469-BAE9-EA55A228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1338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換境使用</a:t>
            </a:r>
          </a:p>
        </p:txBody>
      </p:sp>
      <p:sp>
        <p:nvSpPr>
          <p:cNvPr id="28" name="judgment-3-second-frame">
            <a:extLst xmlns:a="http://schemas.openxmlformats.org/drawingml/2006/main">
              <a:ext uri="{FF2B5EF4-FFF2-40B4-BE49-F238E27FC236}">
                <a16:creationId xmlns:a16="http://schemas.microsoft.com/office/drawing/2014/main" id="{74398179-1863-435F-BC48-78D28A6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14875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3D3D3"/>
            </a:solidFill>
            <a:prstDash val="solid"/>
          </a:ln>
        </p:spPr>
      </p:sp>
      <p:sp>
        <p:nvSpPr>
          <p:cNvPr id="29" name="judgment-3-second-text">
            <a:extLst xmlns:a="http://schemas.openxmlformats.org/drawingml/2006/main">
              <a:ext uri="{FF2B5EF4-FFF2-40B4-BE49-F238E27FC236}">
                <a16:creationId xmlns:a16="http://schemas.microsoft.com/office/drawing/2014/main" id="{ECED3CEC-E803-4F25-8DDB-7674E303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5297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自行判斷</a:t>
            </a:r>
          </a:p>
        </p:txBody>
      </p:sp>
      <p:sp>
        <p:nvSpPr>
          <p:cNvPr id="30" name="page-meta">
            <a:extLst xmlns:a="http://schemas.openxmlformats.org/drawingml/2006/main">
              <a:ext uri="{FF2B5EF4-FFF2-40B4-BE49-F238E27FC236}">
                <a16:creationId xmlns:a16="http://schemas.microsoft.com/office/drawing/2014/main" id="{A6FB4181-3AEE-42CC-9889-8019964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判斷 · 03</a:t>
            </a:r>
          </a:p>
        </p:txBody>
      </p:sp>
    </p:spTree>
    <p:extLst>
      <p:ext uri="{BB962C8B-B14F-4D97-AF65-F5344CB8AC3E}">
        <p14:creationId xmlns:p14="http://schemas.microsoft.com/office/powerpoint/2010/main" val="1505701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6D6C91C-C269-4ABA-824B-ABC3981F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總結</a:t>
            </a:r>
          </a:p>
        </p:txBody>
      </p:sp>
      <p:sp>
        <p:nvSpPr>
          <p:cNvPr id="2" name="one-line-conclusion">
            <a:extLst xmlns:a="http://schemas.openxmlformats.org/drawingml/2006/main">
              <a:ext uri="{FF2B5EF4-FFF2-40B4-BE49-F238E27FC236}">
                <a16:creationId xmlns:a16="http://schemas.microsoft.com/office/drawing/2014/main" id="{68EAD6EF-0CF1-4D3E-8768-A493926C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11111"/>
                </a:solidFill>
              </a:defRPr>
            </a:pPr>
            <a:r>
              <a:t>教學的終點，是學生能 </a:t>
            </a:r>
            <a:r>
              <a:rPr b="1">
                <a:solidFill>
                  <a:srgbClr val="D35230"/>
                </a:solidFill>
              </a:rPr>
              <a:t>自己帶走。</a:t>
            </a:r>
          </a:p>
        </p:txBody>
      </p:sp>
      <p:sp>
        <p:nvSpPr>
          <p:cNvPr id="3" name="conclusion-support">
            <a:extLst xmlns:a="http://schemas.openxmlformats.org/drawingml/2006/main">
              <a:ext uri="{FF2B5EF4-FFF2-40B4-BE49-F238E27FC236}">
                <a16:creationId xmlns:a16="http://schemas.microsoft.com/office/drawing/2014/main" id="{2340FC9E-44CD-4B5B-B928-11601942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666666"/>
                </a:solidFill>
              </a:defRPr>
            </a:pPr>
            <a:r>
              <a:rPr sz="2625" b="0">
                <a:solidFill>
                  <a:srgbClr val="666666"/>
                </a:solidFill>
              </a:rPr>
              <a:t>理解、重組、遷移，最後都指向能夠獨立使用。</a:t>
            </a:r>
          </a:p>
        </p:txBody>
      </p:sp>
      <p:sp>
        <p:nvSpPr>
          <p:cNvPr id="4" name="page-meta">
            <a:extLst xmlns:a="http://schemas.openxmlformats.org/drawingml/2006/main">
              <a:ext uri="{FF2B5EF4-FFF2-40B4-BE49-F238E27FC236}">
                <a16:creationId xmlns:a16="http://schemas.microsoft.com/office/drawing/2014/main" id="{9DA01CEE-F35E-4982-B847-41A66470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38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總結 · 04</a:t>
            </a:r>
          </a:p>
        </p:txBody>
      </p:sp>
    </p:spTree>
    <p:extLst>
      <p:ext uri="{BB962C8B-B14F-4D97-AF65-F5344CB8AC3E}">
        <p14:creationId xmlns:p14="http://schemas.microsoft.com/office/powerpoint/2010/main" val="1734592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2026-07-18T03:46:57.8710000Z</dcterms:created>
  <dcterms:modified xsi:type="dcterms:W3CDTF">2026-07-18T03:46:57.8710000Z</dcterms:modified>
</coreProperties>
</file>